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[Embedded Video Hook]</a:t>
            </a:r>
          </a:p>
          <a:p>
            <a:r>
              <a:t>Title: The Physics of Ultra-Rapid EV Charging</a:t>
            </a:r>
          </a:p>
          <a:p>
            <a:r>
              <a:t>GCSE Physics (9-1) · Electricity, Energy Transfer &amp; High-Power Engineering</a:t>
            </a:r>
          </a:p>
          <a:p>
            <a:r>
              <a:t>Core topics covered:</a:t>
            </a:r>
          </a:p>
          <a:p>
            <a:r>
              <a:t>• Electrical Power (P = IV and P = I²R)</a:t>
            </a:r>
          </a:p>
          <a:p>
            <a:r>
              <a:t>• Charge Flow &amp; Energy (Q = It and E = QV)</a:t>
            </a:r>
          </a:p>
          <a:p>
            <a:r>
              <a:t>• Energy Transfer Rate (P = E / 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Activity: Knowledge Retrieval Practice (6-Question Grid)</a:t>
            </a:r>
          </a:p>
          <a:p>
            <a:r>
              <a:t>Questions &amp; Answers:</a:t>
            </a:r>
          </a:p>
          <a:p>
            <a:r>
              <a:t>1. What formula links electrical charge (Q), current (I), and time (t)?</a:t>
            </a:r>
          </a:p>
          <a:p>
            <a:r>
              <a:t>   → Answer: Q = I × t (Coulombs = Amps × seconds)</a:t>
            </a:r>
          </a:p>
          <a:p>
            <a:r>
              <a:t>2. What is the unit of electrical power, and what does 1 Watt equal in energy per second?</a:t>
            </a:r>
          </a:p>
          <a:p>
            <a:r>
              <a:t>   → Answer: Watt (W) = 1 Joule per second (1 J/s)</a:t>
            </a:r>
          </a:p>
          <a:p>
            <a:r>
              <a:t>3. What equation links energy transferred (E), charge (Q), and potential difference (V)?</a:t>
            </a:r>
          </a:p>
          <a:p>
            <a:r>
              <a:t>   → Answer: E = Q × V (Joules = Coulombs × Volts)</a:t>
            </a:r>
          </a:p>
          <a:p>
            <a:r>
              <a:t>4. A domestic kettle operates on 230 V mains and draws 10 A. Calculate its power rating.</a:t>
            </a:r>
          </a:p>
          <a:p>
            <a:r>
              <a:t>   → Answer: P = V × I = 230 V × 10 A = 2,300 W (2.3 kW)</a:t>
            </a:r>
          </a:p>
          <a:p>
            <a:r>
              <a:t>5. How much electrical energy is transferred when a 2.3 kW kettle boils water for 200 seconds?</a:t>
            </a:r>
          </a:p>
          <a:p>
            <a:r>
              <a:t>   → Answer: E = P × t = 2,300 W × 200 s = 460,000 J (460 kJ)</a:t>
            </a:r>
          </a:p>
          <a:p>
            <a:r>
              <a:t>6. If electrical current through a charging cable doubles, by what factor does resistive heat loss increase?</a:t>
            </a:r>
          </a:p>
          <a:p>
            <a:r>
              <a:t>   → Answer: Power quadruples (increases 4×, since P = I²R has a squared relationship)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60-Second Hook: The Kettle vs. The Supercharger (~152 Kettle Puzzle)</a:t>
            </a:r>
          </a:p>
          <a:p>
            <a:r>
              <a:t>Prompt:</a:t>
            </a:r>
          </a:p>
          <a:p>
            <a:r>
              <a:t>A standard kitchen kettle draws 2,300 W. An ultra-rapid EV supercharger delivers 350,000 W.</a:t>
            </a:r>
          </a:p>
          <a:p>
            <a:r>
              <a:t>How many boiling kettles of electrical power are flowing simultaneously through that single charging cable?</a:t>
            </a:r>
          </a:p>
          <a:p>
            <a:r>
              <a:t>Calculation:</a:t>
            </a:r>
          </a:p>
          <a:p>
            <a:r>
              <a:t>350,000 W ÷ 2,300 W ≈ 152.17 → ~152 Simultaneous Boiling Kettles!</a:t>
            </a:r>
          </a:p>
          <a:p>
            <a:r>
              <a:t>Mission:</a:t>
            </a:r>
          </a:p>
          <a:p>
            <a:r>
              <a:t>How do engineers deliver the power of 152 kettles through a single handheld cable without melting it or destroying the battery?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in Perspective: From AI Queries to Boiling Kettles &amp; EV Batteries</a:t>
            </a:r>
          </a:p>
          <a:p>
            <a:r>
              <a:t>Comparative Energy Demands:</a:t>
            </a:r>
          </a:p>
          <a:p>
            <a:r>
              <a:t>• 1 AI query: ~0.0003 kWh (1 kJ)</a:t>
            </a:r>
          </a:p>
          <a:p>
            <a:r>
              <a:t>• Boiling 1 domestic kettle: ~0.11 kWh (400 kJ)</a:t>
            </a:r>
          </a:p>
          <a:p>
            <a:r>
              <a:t>• 600 AI requests per month: ~0.69 kWh</a:t>
            </a:r>
          </a:p>
          <a:p>
            <a:r>
              <a:t>• Typical EV full battery charge: ~60–75 kWh (equivalent to boiling ~600 kettles)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Fundamental Formula: Power as Rate of Energy Transfer (P = E / t)</a:t>
            </a:r>
          </a:p>
          <a:p>
            <a:r>
              <a:t>1. Formula Breakdown:</a:t>
            </a:r>
          </a:p>
          <a:p>
            <a:r>
              <a:t>   • P = E / t (Power in Watts = Energy transferred in Joules ÷ Time taken in seconds)</a:t>
            </a:r>
          </a:p>
          <a:p>
            <a:r>
              <a:t>   • 1 Watt (W) = 1 Joule per second (1 J/s)</a:t>
            </a:r>
          </a:p>
          <a:p>
            <a:r>
              <a:t>   • Formula Triangle: E on top; P and t on bottom (P = E/t, E = P × t, t = E/P)</a:t>
            </a:r>
          </a:p>
          <a:p>
            <a:r>
              <a:t>   • EV Analogy: Energy (kWh) is the battery tank size; Power (kW) is the pump flow rate.</a:t>
            </a:r>
          </a:p>
          <a:p/>
          <a:p>
            <a:r>
              <a:t>2. Student Calculation Task (75 kWh Battery):</a:t>
            </a:r>
          </a:p>
          <a:p>
            <a:r>
              <a:t>   • Scenario 1 (3-Pin): P = 75 kWh ÷ 32.6 h ≈ 2.3 kW (2,300 W)</a:t>
            </a:r>
          </a:p>
          <a:p>
            <a:r>
              <a:t>   • Scenario 2 (Wallbox): P = 75 kWh ÷ 10.1 h ≈ 7.4 kW (7,425 W)</a:t>
            </a:r>
          </a:p>
          <a:p>
            <a:r>
              <a:t>   • Scenario 3 (Rapid DC): P = 75 kWh ÷ 0.5 h = 150 kW (150,000 W)</a:t>
            </a:r>
          </a:p>
          <a:p/>
          <a:p>
            <a:r>
              <a:t>3. Critical Question: Are the battery graphics accurate?</a:t>
            </a:r>
          </a:p>
          <a:p>
            <a:r>
              <a:t>   • Flaw: The battery graphics showing 5%, 50%, and 95% are physically misleading.</a:t>
            </a:r>
          </a:p>
          <a:p>
            <a:r>
              <a:t>   • Rationale: The times given (32.6 h, 10.1 h, 30 min) represent the duration needed for each charger to fully charge the SAME 75 kWh battery to 100%. Showing low vs high percentages mistakenly implies that a slower charger only fills a battery to 5%, confusing charging speed (rate of power transfer) with the final state of charge!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Physics Inside the Battery: Charge Flow (Q = It) &amp; Energy (E = QV)</a:t>
            </a:r>
          </a:p>
          <a:p>
            <a:r>
              <a:t>1. Charge Flow: Q = I × t</a:t>
            </a:r>
          </a:p>
          <a:p>
            <a:r>
              <a:t>   • At 200 A for 30 minutes (1,800 s): Q = 200 × 1,800 = 360,000 Coulombs (C)</a:t>
            </a:r>
          </a:p>
          <a:p>
            <a:r>
              <a:t>2. Energy per Charge: E = Q × V</a:t>
            </a:r>
          </a:p>
          <a:p>
            <a:r>
              <a:t>   • At 400 V: E = 360,000 C × 400 V = 144,000,000 J (144 MJ or 40 kWh)</a:t>
            </a:r>
          </a:p>
          <a:p>
            <a:r>
              <a:t>3. Synthesis proof linking to power:</a:t>
            </a:r>
          </a:p>
          <a:p>
            <a:r>
              <a:t>   • E = Q × V = (I × t) × V = I × V × t</a:t>
            </a:r>
          </a:p>
          <a:p>
            <a:r>
              <a:t>   • P = E / t = I ×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Heat Trap: The Physics of Dissipated Energy (P = I²R)</a:t>
            </a:r>
          </a:p>
          <a:p>
            <a:r>
              <a:t>Core Concept:</a:t>
            </a:r>
          </a:p>
          <a:p>
            <a:r>
              <a:t>Cables have internal resistance (R). Forcing heavy current through resistance generates wasted thermal dissipation.</a:t>
            </a:r>
          </a:p>
          <a:p>
            <a:r>
              <a:t>The Squared Effect:</a:t>
            </a:r>
          </a:p>
          <a:p>
            <a:r>
              <a:t>• P = I²R</a:t>
            </a:r>
          </a:p>
          <a:p>
            <a:r>
              <a:t>• Doubling current (2×) increases heat dissipation by 4× (2²).</a:t>
            </a:r>
          </a:p>
          <a:p>
            <a:r>
              <a:t>• Tripling current (3×) increases heat dissipation by 9× (3²).</a:t>
            </a:r>
          </a:p>
          <a:p>
            <a:r>
              <a:t>Engineers cannot simply pump infinite current through copper 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Voltage Solution: Outsmarting Resistance (400V vs. 800V)</a:t>
            </a:r>
          </a:p>
          <a:p>
            <a:r>
              <a:t>Delivering 350 kW without melting the cable:</a:t>
            </a:r>
          </a:p>
          <a:p>
            <a:r>
              <a:t>• Option A: Crank Current (I) → Cable becomes dangerously heavy and overheats.</a:t>
            </a:r>
          </a:p>
          <a:p>
            <a:r>
              <a:t>• Option B: Boost Voltage (V) → Why modern performance EVs use 800 V architectures.</a:t>
            </a:r>
          </a:p>
          <a:p>
            <a:r>
              <a:t>Worked example at 150 kW:</a:t>
            </a:r>
          </a:p>
          <a:p>
            <a:r>
              <a:t>• At 230 V: I = 150,000 ÷ 230 = 652 A (hazardous heat loss)</a:t>
            </a:r>
          </a:p>
          <a:p>
            <a:r>
              <a:t>• At 800 V: I = 150,000 ÷ 800 = 187.5 A (safe, lightweight, manageable cable)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Does the Lost Energy Go? (Sankey Diagram &amp; Cable Cooling)</a:t>
            </a:r>
          </a:p>
          <a:p>
            <a:r>
              <a:t>Key Concepts:</a:t>
            </a:r>
          </a:p>
          <a:p>
            <a:r>
              <a:t>• Conservation of energy: Input power = Useful battery storage + Dissipated thermal energy.</a:t>
            </a:r>
          </a:p>
          <a:p>
            <a:r>
              <a:t>• Active liquid cooling: Dialectric coolant channels circulating inside the charging cable to absorb resistive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Examiner's Trap: Units &amp; Significant Figures</a:t>
            </a:r>
          </a:p>
          <a:p>
            <a:r>
              <a:t>High-Value Calculation Pitfalls:</a:t>
            </a:r>
          </a:p>
          <a:p>
            <a:r>
              <a:t>1. Time: Convert minutes/hours into seconds (s) before calculating energy.</a:t>
            </a:r>
          </a:p>
          <a:p>
            <a:r>
              <a:t>2. Prefixes:</a:t>
            </a:r>
          </a:p>
          <a:p>
            <a:r>
              <a:t>   • kW = 1,000 W</a:t>
            </a:r>
          </a:p>
          <a:p>
            <a:r>
              <a:t>   • MW = 1,000,000 W</a:t>
            </a:r>
          </a:p>
          <a:p>
            <a:r>
              <a:t>   • kJ = 1,000 J</a:t>
            </a:r>
          </a:p>
          <a:p>
            <a:r>
              <a:t>   • MJ = 1,000,000 J</a:t>
            </a:r>
          </a:p>
          <a:p>
            <a:r>
              <a:t>3. Significant Figures: Round only at the very final stage to match question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 Charging Network Matrix: Voltage, Current, Power &amp; Time</a:t>
            </a:r>
          </a:p>
          <a:p>
            <a:r>
              <a:t>Comprehensive ecosystem synthesis comparing:</a:t>
            </a:r>
          </a:p>
          <a:p>
            <a:r>
              <a:t>• Domestic 3-Pin (230 V, 10 A, 2.3 kW)</a:t>
            </a:r>
          </a:p>
          <a:p>
            <a:r>
              <a:t>• Home Fast Wallbox (230 V / 400 V, 32 A, 7.4 kW / 22 kW)</a:t>
            </a:r>
          </a:p>
          <a:p>
            <a:r>
              <a:t>• Commercial Rapid DC (400 V, 125 A, 50 kW)</a:t>
            </a:r>
          </a:p>
          <a:p>
            <a:r>
              <a:t>• Motorway Ultra-Rapid DC (800 V, 350 A–500 A, 150–350 kW)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 Toolkit: Interlocking Equation Synthesis Map</a:t>
            </a:r>
          </a:p>
          <a:p>
            <a:r>
              <a:t>Final consolidation map showing how the fundamental equations connect:</a:t>
            </a:r>
          </a:p>
          <a:p>
            <a:r>
              <a:t>• Q = I × t</a:t>
            </a:r>
          </a:p>
          <a:p>
            <a:r>
              <a:t>• E = Q × V</a:t>
            </a:r>
          </a:p>
          <a:p>
            <a:r>
              <a:t>• P = I × V</a:t>
            </a:r>
          </a:p>
          <a:p>
            <a:r>
              <a:t>• P = I² × R</a:t>
            </a:r>
          </a:p>
          <a:p>
            <a:r>
              <a:t>• P = E / 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lectric_car_entering_charging_s…_202610121124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