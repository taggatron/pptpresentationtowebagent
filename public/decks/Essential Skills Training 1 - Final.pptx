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8_E4DD533F.xml" ContentType="application/vnd.ms-powerpoint.comments+xml"/>
  <Override PartName="/ppt/comments/modernComment_119_ADC1BBC5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09_0.xml" ContentType="application/vnd.ms-powerpoint.comments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16" r:id="rId3"/>
    <p:sldId id="273" r:id="rId4"/>
    <p:sldId id="321" r:id="rId5"/>
    <p:sldId id="294" r:id="rId6"/>
    <p:sldId id="291" r:id="rId7"/>
    <p:sldId id="258" r:id="rId8"/>
    <p:sldId id="259" r:id="rId9"/>
    <p:sldId id="304" r:id="rId10"/>
    <p:sldId id="319" r:id="rId11"/>
    <p:sldId id="302" r:id="rId12"/>
    <p:sldId id="309" r:id="rId13"/>
    <p:sldId id="280" r:id="rId14"/>
    <p:sldId id="281" r:id="rId15"/>
    <p:sldId id="317" r:id="rId16"/>
    <p:sldId id="320" r:id="rId17"/>
    <p:sldId id="301" r:id="rId18"/>
    <p:sldId id="311" r:id="rId19"/>
    <p:sldId id="275" r:id="rId20"/>
    <p:sldId id="285" r:id="rId21"/>
    <p:sldId id="286" r:id="rId22"/>
    <p:sldId id="287" r:id="rId23"/>
    <p:sldId id="288" r:id="rId24"/>
    <p:sldId id="318" r:id="rId25"/>
    <p:sldId id="265" r:id="rId26"/>
    <p:sldId id="313" r:id="rId27"/>
    <p:sldId id="312" r:id="rId28"/>
    <p:sldId id="314" r:id="rId29"/>
    <p:sldId id="306" r:id="rId30"/>
    <p:sldId id="307" r:id="rId3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C72021-4010-31D2-9D1E-3F5D49D24AB6}" name="Daniel Tagg" initials="DT" userId="f218a0909f256a22" providerId="Windows Live"/>
  <p188:author id="{CACDB439-7456-E957-B445-2D57BA9FB52A}" name="Holly Vaughan" initials="" userId="S::hollyvaughan@southdevon.ac.uk::04aae72d-69f2-4727-a22d-fd2d7f41d452" providerId="AD"/>
  <p188:author id="{0F61BC66-FC77-72B0-4CC4-D48C862A31E3}" name="Darren Bird" initials="" userId="S::darrenbird@southdevon.ac.uk::6eb86a2d-b738-4f04-9dd1-4f379b2eb167" providerId="AD"/>
  <p188:author id="{264A228F-0585-A903-1FF0-DDF56FAF3F05}" name="Daniel Tagg" initials="DT" userId="S::danieltagg@southdevon.ac.uk::c0e87a2f-a1fe-4fc1-bb2c-59e78e079683" providerId="AD"/>
  <p188:author id="{FB0FCFB7-CCEA-F305-276B-F064DF07FB3E}" name="Katy Hensby" initials="" userId="S::katyhensby@southdevon.ac.uk::fd1c4df4-9a31-4a7d-a544-c283f7ffe91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BD1"/>
    <a:srgbClr val="EFEFEF"/>
    <a:srgbClr val="0C3162"/>
    <a:srgbClr val="04AEB1"/>
    <a:srgbClr val="8F3799"/>
    <a:srgbClr val="23262A"/>
    <a:srgbClr val="060A0E"/>
    <a:srgbClr val="DFE8F0"/>
    <a:srgbClr val="0C1314"/>
    <a:srgbClr val="8D40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A22AA-4C8F-3E0E-CBAB-AC35A422CE9B}" v="1" vWet="2" dt="2026-09-30T13:58:50.698"/>
    <p1510:client id="{72291A49-D27E-6E4C-9FBA-CAFC77CC60EB}" v="664" dt="2026-10-01T12:39:39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47"/>
    <p:restoredTop sz="94675"/>
  </p:normalViewPr>
  <p:slideViewPr>
    <p:cSldViewPr snapToGrid="0">
      <p:cViewPr varScale="1">
        <p:scale>
          <a:sx n="49" d="100"/>
          <a:sy n="49" d="100"/>
        </p:scale>
        <p:origin x="216" y="1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CDBB97-5218-F348-8073-EA92E09DA6AB}" authorId="{264A228F-0585-A903-1FF0-DDF56FAF3F05}" created="2026-09-09T09:47:04.38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0" creationId="{11B7B850-65F7-DCF6-14C8-603129EDFBBD}"/>
    </ac:deMkLst>
    <p188:replyLst>
      <p188:reply id="{2842F466-1920-1047-A3E4-3FBBEFAAFBE6}" authorId="{264A228F-0585-A903-1FF0-DDF56FAF3F05}" created="2026-09-09T09:48:02.921">
        <p188:txBody>
          <a:bodyPr/>
          <a:lstStyle/>
          <a:p>
            <a:r>
              <a:rPr lang="en-GB"/>
              <a:t>Adding a why to the 'poll' Shift to sessoin 2</a:t>
            </a:r>
          </a:p>
        </p188:txBody>
      </p188:reply>
      <p188:reply id="{C25C3C5D-DB7C-DF48-B893-EDA220449F74}" authorId="{264A228F-0585-A903-1FF0-DDF56FAF3F05}" created="2026-09-09T09:50:55.327">
        <p188:txBody>
          <a:bodyPr/>
          <a:lstStyle/>
          <a:p>
            <a:r>
              <a:rPr lang="en-GB"/>
              <a:t>What are most looking forward to most this year?</a:t>
            </a:r>
          </a:p>
        </p188:txBody>
      </p188:reply>
      <p188:reply id="{D7ED1A70-E303-DE40-A2E6-BE16E361530C}" authorId="{264A228F-0585-A903-1FF0-DDF56FAF3F05}" created="2026-09-22T16:41:41.335">
        <p188:txBody>
          <a:bodyPr/>
          <a:lstStyle/>
          <a:p>
            <a:r>
              <a:rPr lang="en-GB"/>
              <a:t>Do we need a starter?</a:t>
            </a:r>
          </a:p>
        </p188:txBody>
      </p188:reply>
    </p188:replyLst>
    <p188:txBody>
      <a:bodyPr/>
      <a:lstStyle/>
      <a:p>
        <a:r>
          <a:rPr lang="en-GB"/>
          <a:t>Mentimeter - Confidence poll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53C172-12E5-2C4F-803D-06CEC4A73AFA}" authorId="{22C72021-4010-31D2-9D1E-3F5D49D24AB6}" created="2026-09-09T10:08:03.4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picMk id="2" creationId="{00000000-0000-0000-0000-000000000000}"/>
    </ac:deMkLst>
    <p188:txBody>
      <a:bodyPr/>
      <a:lstStyle/>
      <a:p>
        <a:r>
          <a:rPr lang="en-GB"/>
          <a:t>QR code to form??</a:t>
        </a:r>
      </a:p>
    </p188:txBody>
  </p188:cm>
</p188:cmLst>
</file>

<file path=ppt/comments/modernComment_118_E4DD53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473E29-9777-D443-81B8-53FDF9D418DA}" authorId="{264A228F-0585-A903-1FF0-DDF56FAF3F05}" status="resolved" created="2026-09-15T16:31:54.371" startDate="2026-09-15T16:31:54.371" dueDate="2026-09-15T16:31:54.371" assignedTo="{FB0FCFB7-CCEA-F305-276B-F064DF07FB3E}" complete="100000" title="Here you are @Katy Hensby :)">
    <pc:sldMkLst xmlns:pc="http://schemas.microsoft.com/office/powerpoint/2013/main/command">
      <pc:docMk/>
      <pc:sldMk cId="3839710015" sldId="280"/>
    </pc:sldMkLst>
    <p188:txBody>
      <a:bodyPr/>
      <a:lstStyle/>
      <a:p>
        <a:r>
          <a:rPr lang="en-GB"/>
          <a:t>Here you are [@Katy Hensby] :)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9-15T16:31:54.371" id="{0E2300B6-3ECE-D44A-B513-688784C85306}">
              <p228:atrbtn authorId="{264A228F-0585-A903-1FF0-DDF56FAF3F05}"/>
              <p228:anchr>
                <p228:comment id="{18473E29-9777-D443-81B8-53FDF9D418DA}"/>
              </p228:anchr>
              <p228:add/>
            </p228:event>
            <p228:event time="2026-09-15T16:31:54.371" id="{2A6A63A9-914D-DA4C-8B6E-2A60F14D8BAB}">
              <p228:atrbtn authorId="{264A228F-0585-A903-1FF0-DDF56FAF3F05}"/>
              <p228:anchr>
                <p228:comment id="{18473E29-9777-D443-81B8-53FDF9D418DA}"/>
              </p228:anchr>
              <p228:asgn authorId="{FB0FCFB7-CCEA-F305-276B-F064DF07FB3E}"/>
            </p228:event>
            <p228:event time="2026-09-15T16:31:54.371" id="{E547C16D-DB34-FC46-A160-84AD238B31CA}">
              <p228:atrbtn authorId="{264A228F-0585-A903-1FF0-DDF56FAF3F05}"/>
              <p228:anchr>
                <p228:comment id="{18473E29-9777-D443-81B8-53FDF9D418DA}"/>
              </p228:anchr>
              <p228:title val="Here you are @Katy Hensby :)"/>
            </p228:event>
            <p228:event time="2026-09-15T16:31:54.371" id="{F0B19859-ABEA-454B-A448-22430C7238F7}">
              <p228:atrbtn authorId="{264A228F-0585-A903-1FF0-DDF56FAF3F05}"/>
              <p228:anchr>
                <p228:comment id="{18473E29-9777-D443-81B8-53FDF9D418DA}"/>
              </p228:anchr>
              <p228:date stDt="2026-09-15T16:31:54.371" endDt="2026-09-15T16:31:54.371"/>
            </p228:event>
            <p228:event time="2026-09-18T12:55:57.230" id="{58F626EF-DA6D-0341-BDA5-5389663E1F5F}">
              <p228:atrbtn authorId="{264A228F-0585-A903-1FF0-DDF56FAF3F0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19_ADC1BB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D81809-0B4B-1942-B3C2-250AE8EB65CA}" authorId="{264A228F-0585-A903-1FF0-DDF56FAF3F05}" created="2026-09-15T16:32:19.526" startDate="2026-09-15T16:32:19.526" dueDate="2026-09-15T16:32:19.526" assignedTo="{FB0FCFB7-CCEA-F305-276B-F064DF07FB3E}" title="Here you are @Katy Hensby :)">
    <pc:sldMkLst xmlns:pc="http://schemas.microsoft.com/office/powerpoint/2013/main/command">
      <pc:docMk/>
      <pc:sldMk cId="2915154885" sldId="281"/>
    </pc:sldMkLst>
    <p188:txBody>
      <a:bodyPr/>
      <a:lstStyle/>
      <a:p>
        <a:r>
          <a:rPr lang="en-GB"/>
          <a:t>Here you are [@Katy Hensby] :)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9-15T16:32:19.526" id="{EE7C0F9E-992D-C948-B8A2-D41B1D9E12B3}">
              <p228:atrbtn authorId="{264A228F-0585-A903-1FF0-DDF56FAF3F05}"/>
              <p228:anchr>
                <p228:comment id="{ABD81809-0B4B-1942-B3C2-250AE8EB65CA}"/>
              </p228:anchr>
              <p228:add/>
            </p228:event>
            <p228:event time="2026-09-15T16:32:19.526" id="{7CAD0E42-44B5-4846-9D30-460C246720BD}">
              <p228:atrbtn authorId="{264A228F-0585-A903-1FF0-DDF56FAF3F05}"/>
              <p228:anchr>
                <p228:comment id="{ABD81809-0B4B-1942-B3C2-250AE8EB65CA}"/>
              </p228:anchr>
              <p228:asgn authorId="{FB0FCFB7-CCEA-F305-276B-F064DF07FB3E}"/>
            </p228:event>
            <p228:event time="2026-09-15T16:32:19.526" id="{02CBEA09-99BF-6C4F-BB39-27FAB736D8DE}">
              <p228:atrbtn authorId="{264A228F-0585-A903-1FF0-DDF56FAF3F05}"/>
              <p228:anchr>
                <p228:comment id="{ABD81809-0B4B-1942-B3C2-250AE8EB65CA}"/>
              </p228:anchr>
              <p228:title val="Here you are @Katy Hensby :)"/>
            </p228:event>
            <p228:event time="2026-09-15T16:32:19.526" id="{4EABD5DB-4830-4244-8A5A-B8850E299ADA}">
              <p228:atrbtn authorId="{264A228F-0585-A903-1FF0-DDF56FAF3F05}"/>
              <p228:anchr>
                <p228:comment id="{ABD81809-0B4B-1942-B3C2-250AE8EB65CA}"/>
              </p228:anchr>
              <p228:date stDt="2026-09-15T16:32:19.526" endDt="2026-09-15T16:32:19.526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9-17T08:26:11.170" authorId="{FB0FCFB7-CCEA-F305-276B-F064DF07FB3E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C14E-6D76-C342-8C6E-9147B262A0E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5B30-5E0B-3846-97B6-51E93FEF6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87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978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C56B-62D4-373C-17BE-9F61AEAED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2BC00-5B22-BE1C-A93B-83BDD0278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3635F-3D97-681B-1AF0-E51BADF0B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7C24E-B042-77E1-874D-10F9DDAD9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819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983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868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What is missing??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8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BEF0-FC14-6141-2D83-EC6B1F94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A863A-B7D7-8EF9-192E-FBA6FA99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EFBC2-0330-72DA-C76A-164AB38F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EB8FE-187C-DEC0-5832-459453EEC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514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BEF0-FC14-6141-2D83-EC6B1F94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A863A-B7D7-8EF9-192E-FBA6FA99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EFBC2-0330-72DA-C76A-164AB38F8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EB8FE-187C-DEC0-5832-459453EEC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344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BC97-D97F-5B09-3465-A283590F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7525E-3616-EB42-3136-F1BB6E405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D8C1-3E30-0618-AE47-F7ECF7E9F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6EC76-99CE-C698-4102-6D630861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586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242CF-484E-29AA-7365-B9B10E11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C2299-53A7-CDEB-093B-A6A945B87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254F8-C432-1DC3-3B75-91E9C3D2C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C4ECB-BD88-6E29-A124-D666A35FA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372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B1DA-AD95-4140-D29C-E8D94DAE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11B98-1BE0-2808-C35D-FA9A7764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34E34-C846-EE79-F383-D1CA61202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F6883-4A17-E68A-E2F8-A1D456338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680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EF6E-754E-0D87-7421-52B40A4C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74E7C-37E0-EC4A-0718-7AB7626E7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F657E-A6FA-FDB9-374A-4CCB58DD9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7D677-B41C-9014-BAFC-82190D9E5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946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17EC-1510-66A0-77A0-EBBF94A8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AA714-2544-B0D0-88E8-26FDBEBE1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50C70-7E52-72CF-E4EE-14CB63268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6A74E-55DB-FA94-F4F8-46C403247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5B30-5E0B-3846-97B6-51E93FEF604F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95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microsoft.com/office/2018/10/relationships/comments" Target="../comments/modernComment_100_0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mailsouthdevonac.sharepoint.com/:w:/s/FEQualityHub/IQCBE4fqaCU_Qp64LFYoz_AmAbGjYVGWakttbChebQ4GLj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jpe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18_E4DD533F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9_ADC1BBC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4B632-70E5-5423-CD4D-80F60238AC88}"/>
              </a:ext>
            </a:extLst>
          </p:cNvPr>
          <p:cNvSpPr/>
          <p:nvPr/>
        </p:nvSpPr>
        <p:spPr>
          <a:xfrm>
            <a:off x="0" y="2514600"/>
            <a:ext cx="16256000" cy="4824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FE072D-8B53-CDDE-AEDD-02BC7C3F06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193" b="5462"/>
          <a:stretch>
            <a:fillRect/>
          </a:stretch>
        </p:blipFill>
        <p:spPr>
          <a:xfrm>
            <a:off x="0" y="2057400"/>
            <a:ext cx="16256000" cy="556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577DC-CBDD-A086-34EE-820CB1CF5EA2}"/>
              </a:ext>
            </a:extLst>
          </p:cNvPr>
          <p:cNvSpPr txBox="1"/>
          <p:nvPr/>
        </p:nvSpPr>
        <p:spPr>
          <a:xfrm>
            <a:off x="736600" y="1400510"/>
            <a:ext cx="134127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4000" b="1">
                <a:solidFill>
                  <a:srgbClr val="154D8E"/>
                </a:solidFill>
              </a:rPr>
              <a:t>Starting Strong, </a:t>
            </a:r>
            <a:r>
              <a:rPr lang="en-GB" sz="4000" b="1">
                <a:solidFill>
                  <a:srgbClr val="8F3799"/>
                </a:solidFill>
              </a:rPr>
              <a:t>Belonging Builds Brilliance, </a:t>
            </a:r>
            <a:r>
              <a:rPr lang="en-GB" sz="4000" b="1">
                <a:solidFill>
                  <a:srgbClr val="2EAEAB"/>
                </a:solidFill>
              </a:rPr>
              <a:t>Finishing Stronger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95668-DAA2-2304-A521-E512AAFAE03F}"/>
              </a:ext>
            </a:extLst>
          </p:cNvPr>
          <p:cNvSpPr txBox="1"/>
          <p:nvPr/>
        </p:nvSpPr>
        <p:spPr>
          <a:xfrm>
            <a:off x="889000" y="259587"/>
            <a:ext cx="99060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7200" b="1">
                <a:solidFill>
                  <a:srgbClr val="21364F"/>
                </a:solidFill>
                <a:cs typeface="AL BAYAN PLAIN" pitchFamily="2" charset="-78"/>
              </a:rPr>
              <a:t>Essential Skills Training 1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4C3CAAC-8106-7866-DE01-E634218DEC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6634" b="4622"/>
          <a:stretch>
            <a:fillRect/>
          </a:stretch>
        </p:blipFill>
        <p:spPr>
          <a:xfrm>
            <a:off x="8985956" y="7339012"/>
            <a:ext cx="7270044" cy="1570311"/>
          </a:xfrm>
          <a:prstGeom prst="rect">
            <a:avLst/>
          </a:prstGeom>
        </p:spPr>
      </p:pic>
      <p:pic>
        <p:nvPicPr>
          <p:cNvPr id="6" name="Animating_presentation_slide_wit…_1080p_20260922234443">
            <a:hlinkClick r:id="" action="ppaction://media"/>
            <a:extLst>
              <a:ext uri="{FF2B5EF4-FFF2-40B4-BE49-F238E27FC236}">
                <a16:creationId xmlns:a16="http://schemas.microsoft.com/office/drawing/2014/main" id="{18FF400C-AA6B-E869-57F1-876A642936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" y="1270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5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9F43E-90D2-42E8-04A1-7DE0F2EE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F65F76-6840-87E0-11C9-459FEF3DC5CA}"/>
              </a:ext>
            </a:extLst>
          </p:cNvPr>
          <p:cNvSpPr txBox="1"/>
          <p:nvPr/>
        </p:nvSpPr>
        <p:spPr>
          <a:xfrm>
            <a:off x="704273" y="1665030"/>
            <a:ext cx="14020800" cy="135421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GB" sz="5400" b="1" spc="240">
              <a:solidFill>
                <a:srgbClr val="0F2A45"/>
              </a:solidFill>
              <a:cs typeface="Al Bayan" pitchFamily="2" charset="-7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b="1" spc="240">
              <a:solidFill>
                <a:srgbClr val="8D40B6"/>
              </a:solidFill>
              <a:cs typeface="Al Baya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E391EF0-D37F-B4EB-F757-8FC8036E63A1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0C31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5521A-F28A-476C-4D22-89410C70B075}"/>
              </a:ext>
            </a:extLst>
          </p:cNvPr>
          <p:cNvSpPr txBox="1"/>
          <p:nvPr/>
        </p:nvSpPr>
        <p:spPr>
          <a:xfrm>
            <a:off x="704273" y="3905753"/>
            <a:ext cx="15029713" cy="372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US" sz="6000" dirty="0">
                <a:latin typeface="Calibri"/>
                <a:ea typeface="Arial"/>
                <a:cs typeface="Arial"/>
              </a:rPr>
            </a:br>
            <a:r>
              <a:rPr lang="en-US" sz="60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What you understand by the term ‘Starting Stronger…’</a:t>
            </a:r>
            <a:br>
              <a:rPr lang="en-US" sz="60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</a:br>
            <a:endParaRPr lang="en-US" sz="2800" dirty="0">
              <a:ea typeface="Calibri"/>
              <a:cs typeface="Calibri"/>
            </a:endParaRPr>
          </a:p>
          <a:p>
            <a:pPr algn="ctr"/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54438-7483-AEA8-03C9-1CBA51609AFC}"/>
              </a:ext>
            </a:extLst>
          </p:cNvPr>
          <p:cNvSpPr txBox="1"/>
          <p:nvPr/>
        </p:nvSpPr>
        <p:spPr>
          <a:xfrm>
            <a:off x="704273" y="3096000"/>
            <a:ext cx="11465560" cy="1384995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6600" b="1" i="0" u="none" strike="noStrike" baseline="0" dirty="0">
                <a:solidFill>
                  <a:schemeClr val="bg1"/>
                </a:solidFill>
                <a:latin typeface="Calibri"/>
              </a:rPr>
              <a:t>As you settle, </a:t>
            </a:r>
            <a:r>
              <a:rPr lang="en-US" sz="6600" b="1" i="0" u="none" strike="noStrike" baseline="0" dirty="0">
                <a:solidFill>
                  <a:schemeClr val="bg1"/>
                </a:solidFill>
                <a:latin typeface="Calibri"/>
              </a:rPr>
              <a:t>t</a:t>
            </a:r>
            <a:r>
              <a:rPr lang="en-US" sz="6600" b="1" dirty="0">
                <a:solidFill>
                  <a:schemeClr val="bg1"/>
                </a:solidFill>
                <a:latin typeface="Calibri"/>
              </a:rPr>
              <a:t>hink about: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82840-138E-5909-839B-950C24FBA069}"/>
              </a:ext>
            </a:extLst>
          </p:cNvPr>
          <p:cNvSpPr txBox="1"/>
          <p:nvPr/>
        </p:nvSpPr>
        <p:spPr>
          <a:xfrm>
            <a:off x="7714673" y="7978914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000">
                <a:solidFill>
                  <a:srgbClr val="575A5F"/>
                </a:solidFill>
                <a:cs typeface="Al Bayan Plain" pitchFamily="2" charset="-78"/>
              </a:rPr>
              <a:t>(Lead: Dan Tagg)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18F1B-85F0-86D2-4EF6-118BBB10649D}"/>
              </a:ext>
            </a:extLst>
          </p:cNvPr>
          <p:cNvSpPr txBox="1"/>
          <p:nvPr/>
        </p:nvSpPr>
        <p:spPr>
          <a:xfrm>
            <a:off x="889000" y="259587"/>
            <a:ext cx="15011400" cy="212365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>
                <a:solidFill>
                  <a:srgbClr val="21364F"/>
                </a:solidFill>
                <a:cs typeface="AL BAYAN PLAIN"/>
              </a:rPr>
              <a:t>Essential Skills Training 1: Starting Strong and Finishing Stronger…</a:t>
            </a:r>
            <a:endParaRPr lang="en-GB" sz="4400" b="1">
              <a:solidFill>
                <a:srgbClr val="21364F"/>
              </a:solidFill>
              <a:cs typeface="Al Bayan Plain"/>
            </a:endParaRPr>
          </a:p>
        </p:txBody>
      </p:sp>
    </p:spTree>
    <p:extLst>
      <p:ext uri="{BB962C8B-B14F-4D97-AF65-F5344CB8AC3E}">
        <p14:creationId xmlns:p14="http://schemas.microsoft.com/office/powerpoint/2010/main" val="85747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2D9A84-8BBD-2311-B41A-0E44B346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B4375-60A5-F703-91D1-EFE205CAB9B7}"/>
              </a:ext>
            </a:extLst>
          </p:cNvPr>
          <p:cNvSpPr txBox="1"/>
          <p:nvPr/>
        </p:nvSpPr>
        <p:spPr>
          <a:xfrm>
            <a:off x="889000" y="259587"/>
            <a:ext cx="15011400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7200" b="1">
                <a:solidFill>
                  <a:srgbClr val="21364F"/>
                </a:solidFill>
                <a:cs typeface="AL BAYAN PLAIN"/>
              </a:rPr>
              <a:t>Looking forward… </a:t>
            </a:r>
            <a:r>
              <a:rPr lang="en-GB" sz="4800" spc="-150">
                <a:solidFill>
                  <a:srgbClr val="394A59"/>
                </a:solidFill>
                <a:cs typeface="Al Bayan Plain"/>
              </a:rPr>
              <a:t>(Lead: Assistant Principal)</a:t>
            </a:r>
            <a:endParaRPr lang="en-GB" sz="4800" b="1">
              <a:solidFill>
                <a:srgbClr val="21364F"/>
              </a:solidFill>
              <a:cs typeface="Al Bayan Plain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47036D7-ECCA-FC28-C1A9-0634ABA7D294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E4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6494D-460C-D2A5-70E2-573D66BE81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68050" y="4569856"/>
            <a:ext cx="1071616" cy="38388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054C9B-9906-DB3D-DE83-7E5976EB8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007" y="2720082"/>
            <a:ext cx="6121767" cy="3989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00062-01A4-CAC3-1E7F-62983B49AC8F}"/>
              </a:ext>
            </a:extLst>
          </p:cNvPr>
          <p:cNvSpPr txBox="1"/>
          <p:nvPr/>
        </p:nvSpPr>
        <p:spPr>
          <a:xfrm>
            <a:off x="10525841" y="7146659"/>
            <a:ext cx="537455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>
                <a:ea typeface="Calibri"/>
                <a:cs typeface="Calibri"/>
              </a:rPr>
              <a:t>Click </a:t>
            </a:r>
            <a:r>
              <a:rPr lang="en-GB" sz="3200">
                <a:ea typeface="Calibri"/>
                <a:cs typeface="Calibri"/>
                <a:hlinkClick r:id="rId3"/>
              </a:rPr>
              <a:t>here</a:t>
            </a:r>
            <a:r>
              <a:rPr lang="en-GB" sz="3200">
                <a:ea typeface="Calibri"/>
                <a:cs typeface="Calibri"/>
              </a:rPr>
              <a:t> for the full schedule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508990-5053-9C55-06F2-B3F5ADFDC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24" y="1536853"/>
            <a:ext cx="9831458" cy="659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7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_generated_video_be24c8f1">
            <a:hlinkClick r:id="" action="ppaction://media"/>
            <a:extLst>
              <a:ext uri="{FF2B5EF4-FFF2-40B4-BE49-F238E27FC236}">
                <a16:creationId xmlns:a16="http://schemas.microsoft.com/office/drawing/2014/main" id="{E48AD3C1-600A-34CC-5C4B-B67647D08D1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64.4444" end="4727.039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38" y="7938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3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D5B81-6BE1-18A8-4BB4-7C5B9A593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218"/>
          <a:stretch>
            <a:fillRect/>
          </a:stretch>
        </p:blipFill>
        <p:spPr>
          <a:xfrm>
            <a:off x="279400" y="57150"/>
            <a:ext cx="15697200" cy="56139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710EE8-07E2-C936-41B7-6FF3491BA9AD}"/>
              </a:ext>
            </a:extLst>
          </p:cNvPr>
          <p:cNvSpPr/>
          <p:nvPr/>
        </p:nvSpPr>
        <p:spPr>
          <a:xfrm>
            <a:off x="279400" y="3530009"/>
            <a:ext cx="15697200" cy="5613991"/>
          </a:xfrm>
          <a:prstGeom prst="rect">
            <a:avLst/>
          </a:prstGeom>
          <a:solidFill>
            <a:srgbClr val="8A4B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88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F1F1DD-DA15-7958-BB01-E61B65AE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756" y="0"/>
            <a:ext cx="6564457" cy="87916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44844B-C57B-661F-0EE0-5F73798826A3}"/>
              </a:ext>
            </a:extLst>
          </p:cNvPr>
          <p:cNvSpPr txBox="1"/>
          <p:nvPr/>
        </p:nvSpPr>
        <p:spPr>
          <a:xfrm>
            <a:off x="905411" y="199907"/>
            <a:ext cx="8660620" cy="193899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>
                <a:solidFill>
                  <a:srgbClr val="060A0E"/>
                </a:solidFill>
                <a:latin typeface="+mj-lt"/>
                <a:cs typeface="AL BAYAN PLAIN"/>
              </a:rPr>
              <a:t>The Student Journey -</a:t>
            </a:r>
            <a:endParaRPr lang="en-GB" sz="6000" b="1">
              <a:solidFill>
                <a:srgbClr val="575A5F"/>
              </a:solidFill>
              <a:latin typeface="+mj-lt"/>
              <a:cs typeface="Al Bayan Plain"/>
            </a:endParaRPr>
          </a:p>
          <a:p>
            <a:r>
              <a:rPr lang="en-GB" sz="6000" b="1">
                <a:solidFill>
                  <a:srgbClr val="060A0E"/>
                </a:solidFill>
                <a:latin typeface="+mj-lt"/>
                <a:cs typeface="AL BAYAN PLAIN"/>
              </a:rPr>
              <a:t>Hayden Bartlam (Phipps)  </a:t>
            </a:r>
            <a:endParaRPr lang="en-GB" sz="6000" b="1">
              <a:solidFill>
                <a:srgbClr val="575A5F"/>
              </a:solidFill>
              <a:ea typeface="Calibri"/>
              <a:cs typeface="Al Bayan Plai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B8679-6CCD-021F-1B7F-83C86291181C}"/>
              </a:ext>
            </a:extLst>
          </p:cNvPr>
          <p:cNvSpPr txBox="1"/>
          <p:nvPr/>
        </p:nvSpPr>
        <p:spPr>
          <a:xfrm>
            <a:off x="384285" y="2360163"/>
            <a:ext cx="9492768" cy="6186309"/>
          </a:xfrm>
          <a:prstGeom prst="rect">
            <a:avLst/>
          </a:prstGeom>
          <a:ln w="76200">
            <a:solidFill>
              <a:srgbClr val="8F379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600">
              <a:latin typeface="inherit"/>
              <a:ea typeface="system-ui"/>
              <a:cs typeface="system-ui"/>
            </a:endParaRPr>
          </a:p>
          <a:p>
            <a:pPr algn="ctr"/>
            <a:r>
              <a:rPr lang="en-US" sz="3600">
                <a:latin typeface="inherit"/>
                <a:ea typeface="system-ui"/>
                <a:cs typeface="system-ui"/>
              </a:rPr>
              <a:t>"</a:t>
            </a:r>
            <a:r>
              <a:rPr lang="en-US" sz="3600" b="0" i="0">
                <a:latin typeface="inherit"/>
                <a:ea typeface="system-ui"/>
                <a:cs typeface="system-ui"/>
              </a:rPr>
              <a:t>Today is a day I once thought I could only imagine… </a:t>
            </a:r>
          </a:p>
          <a:p>
            <a:pPr algn="ctr"/>
            <a:endParaRPr lang="en-US" sz="3600">
              <a:latin typeface="inherit"/>
              <a:ea typeface="system-ui"/>
              <a:cs typeface="system-ui"/>
            </a:endParaRPr>
          </a:p>
          <a:p>
            <a:pPr algn="ctr"/>
            <a:r>
              <a:rPr lang="en-US" sz="3600" b="0" i="0">
                <a:latin typeface="inherit"/>
                <a:ea typeface="system-ui"/>
                <a:cs typeface="system-ui"/>
              </a:rPr>
              <a:t>The last 6 years inside the </a:t>
            </a:r>
            <a:r>
              <a:rPr lang="en-US" sz="3600" b="1" i="0" u="none" strike="noStrike">
                <a:solidFill>
                  <a:srgbClr val="0A66C2"/>
                </a:solidFill>
                <a:latin typeface="inherit"/>
                <a:ea typeface="inherit"/>
                <a:cs typeface="inherit"/>
              </a:rPr>
              <a:t>South Devon College</a:t>
            </a:r>
            <a:r>
              <a:rPr lang="en-US" sz="3600" b="0" i="0">
                <a:latin typeface="inherit"/>
                <a:ea typeface="system-ui"/>
                <a:cs typeface="system-ui"/>
              </a:rPr>
              <a:t> building have been an incredible adventure, starting at South Devon High School at 14, continuing through </a:t>
            </a:r>
            <a:r>
              <a:rPr lang="en-US" sz="3600" b="1" i="0" u="none" strike="noStrike">
                <a:solidFill>
                  <a:srgbClr val="0A66C2"/>
                </a:solidFill>
                <a:latin typeface="inherit"/>
                <a:ea typeface="inherit"/>
                <a:cs typeface="inherit"/>
              </a:rPr>
              <a:t>South Devon College</a:t>
            </a:r>
            <a:r>
              <a:rPr lang="en-US" sz="3600" b="0" i="0">
                <a:latin typeface="inherit"/>
                <a:ea typeface="system-ui"/>
                <a:cs typeface="system-ui"/>
              </a:rPr>
              <a:t>, and now graduating with a degree from </a:t>
            </a:r>
            <a:r>
              <a:rPr lang="en-US" sz="3600" b="1" i="0" u="none" strike="noStrike">
                <a:solidFill>
                  <a:srgbClr val="0A66C2"/>
                </a:solidFill>
                <a:latin typeface="inherit"/>
                <a:ea typeface="inherit"/>
                <a:cs typeface="inherit"/>
              </a:rPr>
              <a:t>University Centre South Devon</a:t>
            </a:r>
            <a:r>
              <a:rPr lang="en-US" sz="3600" b="0" i="0">
                <a:latin typeface="inherit"/>
                <a:ea typeface="system-ui"/>
                <a:cs typeface="system-ui"/>
              </a:rPr>
              <a:t> at 20 years old</a:t>
            </a:r>
            <a:r>
              <a:rPr lang="en-US" sz="3600">
                <a:latin typeface="inherit"/>
                <a:ea typeface="system-ui"/>
                <a:cs typeface="system-ui"/>
              </a:rPr>
              <a:t>."</a:t>
            </a:r>
            <a:endParaRPr lang="en-US" sz="3600">
              <a:latin typeface="inherit"/>
            </a:endParaRPr>
          </a:p>
          <a:p>
            <a:pPr algn="ctr"/>
            <a:endParaRPr lang="en-GB" sz="360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7CBEC7A-0B42-05F2-16F0-71DD1E6CC90A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E3D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93478-5574-B1A7-2F82-2A6025A41152}"/>
              </a:ext>
            </a:extLst>
          </p:cNvPr>
          <p:cNvSpPr txBox="1"/>
          <p:nvPr/>
        </p:nvSpPr>
        <p:spPr>
          <a:xfrm>
            <a:off x="2214292" y="4022156"/>
            <a:ext cx="5832754" cy="2862322"/>
          </a:xfrm>
          <a:prstGeom prst="rect">
            <a:avLst/>
          </a:prstGeom>
          <a:ln w="76200">
            <a:solidFill>
              <a:srgbClr val="04AEB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>
                <a:latin typeface="Calibri"/>
                <a:ea typeface="Calibri"/>
                <a:cs typeface="Calibri"/>
              </a:rPr>
              <a:t>"</a:t>
            </a:r>
            <a:r>
              <a:rPr lang="en-US" sz="6000" b="0" i="0">
                <a:latin typeface="Calibri"/>
                <a:ea typeface="Calibri"/>
                <a:cs typeface="Calibri"/>
              </a:rPr>
              <a:t>Achieving this wasn't a solo effort</a:t>
            </a:r>
            <a:r>
              <a:rPr lang="en-US" sz="6000">
                <a:latin typeface="Calibri"/>
                <a:ea typeface="Calibri"/>
                <a:cs typeface="Calibri"/>
              </a:rPr>
              <a:t>!"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10DB9E-5B4F-1B18-AF98-A02E303D3B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8" b="3816"/>
          <a:stretch>
            <a:fillRect/>
          </a:stretch>
        </p:blipFill>
        <p:spPr>
          <a:xfrm>
            <a:off x="10390061" y="-221182"/>
            <a:ext cx="5994662" cy="879168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2E015D-CFAD-3E4C-A8A7-5013DCCEF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5885" y="1345998"/>
            <a:ext cx="2374900" cy="7099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E46AA1-2EEC-43E6-7CF4-989CEB206D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2365" b="30954" l="35166" r="60230">
                        <a14:foregroundMark x1="51151" y1="30871" x2="51918" y2="29544"/>
                        <a14:foregroundMark x1="52558" y1="23900" x2="52174" y2="20996"/>
                        <a14:foregroundMark x1="48465" y1="21909" x2="53581" y2="20332"/>
                        <a14:foregroundMark x1="59591" y1="20415" x2="59591" y2="20415"/>
                        <a14:foregroundMark x1="46164" y1="19336" x2="49744" y2="18589"/>
                        <a14:foregroundMark x1="52174" y1="18672" x2="49872" y2="17510"/>
                        <a14:foregroundMark x1="53581" y1="18838" x2="51151" y2="17925"/>
                        <a14:foregroundMark x1="53836" y1="18838" x2="53836" y2="18838"/>
                        <a14:foregroundMark x1="54604" y1="19336" x2="53836" y2="18423"/>
                        <a14:foregroundMark x1="54604" y1="19336" x2="53581" y2="18008"/>
                        <a14:foregroundMark x1="38747" y1="28465" x2="39258" y2="26307"/>
                        <a14:foregroundMark x1="42327" y1="31120" x2="37724" y2="30871"/>
                        <a14:foregroundMark x1="36317" y1="29793" x2="35294" y2="24647"/>
                        <a14:foregroundMark x1="35294" y1="24647" x2="36573" y2="24564"/>
                        <a14:foregroundMark x1="59974" y1="20000" x2="60230" y2="20996"/>
                        <a14:foregroundMark x1="55499" y1="16929" x2="54348" y2="13859"/>
                        <a14:foregroundMark x1="55754" y1="16266" x2="55754" y2="16266"/>
                        <a14:foregroundMark x1="55882" y1="15602" x2="49616" y2="13444"/>
                        <a14:foregroundMark x1="46036" y1="13776" x2="41688" y2="14191"/>
                        <a14:foregroundMark x1="55499" y1="18340" x2="55882" y2="18589"/>
                        <a14:foregroundMark x1="55627" y1="16266" x2="56138" y2="16432"/>
                        <a14:foregroundMark x1="55243" y1="14440" x2="54987" y2="14191"/>
                        <a14:foregroundMark x1="56138" y1="16349" x2="56394" y2="15104"/>
                        <a14:foregroundMark x1="55627" y1="14606" x2="56138" y2="14938"/>
                        <a14:foregroundMark x1="54859" y1="13776" x2="54859" y2="13776"/>
                        <a14:foregroundMark x1="43095" y1="29876" x2="42327" y2="30041"/>
                        <a14:foregroundMark x1="56138" y1="14689" x2="54604" y2="13029"/>
                        <a14:backgroundMark x1="35294" y1="15353" x2="40409" y2="13610"/>
                      </a14:backgroundRemoval>
                    </a14:imgEffect>
                  </a14:imgLayer>
                </a14:imgProps>
              </a:ext>
            </a:extLst>
          </a:blip>
          <a:srcRect l="34226" t="10600" r="38181" b="68060"/>
          <a:stretch>
            <a:fillRect/>
          </a:stretch>
        </p:blipFill>
        <p:spPr>
          <a:xfrm>
            <a:off x="12429475" y="698702"/>
            <a:ext cx="1654121" cy="1969597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24805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9A4D13-1AD7-44C2-66D8-C8C1A9767373}"/>
              </a:ext>
            </a:extLst>
          </p:cNvPr>
          <p:cNvSpPr txBox="1"/>
          <p:nvPr/>
        </p:nvSpPr>
        <p:spPr>
          <a:xfrm>
            <a:off x="704273" y="457200"/>
            <a:ext cx="99060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>
                <a:solidFill>
                  <a:srgbClr val="0C3162"/>
                </a:solidFill>
                <a:latin typeface="+mj-lt"/>
                <a:cs typeface="AL BAYAN PLAIN"/>
              </a:rPr>
              <a:t>Session Outcomes &amp; </a:t>
            </a:r>
            <a:endParaRPr lang="en-GB" sz="6600" b="1">
              <a:solidFill>
                <a:srgbClr val="0C3162"/>
              </a:solidFill>
              <a:latin typeface="+mj-lt"/>
              <a:cs typeface="AL BAYAN PLAIN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FAA8A-EB96-C6B7-AA2D-C4F020DA7A03}"/>
              </a:ext>
            </a:extLst>
          </p:cNvPr>
          <p:cNvSpPr txBox="1"/>
          <p:nvPr/>
        </p:nvSpPr>
        <p:spPr>
          <a:xfrm>
            <a:off x="704273" y="1665030"/>
            <a:ext cx="14020800" cy="135421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GB" sz="5400" b="1" spc="240">
              <a:solidFill>
                <a:srgbClr val="0F2A45"/>
              </a:solidFill>
              <a:cs typeface="Al Bayan" pitchFamily="2" charset="-7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800" b="1" spc="240">
              <a:solidFill>
                <a:srgbClr val="8D40B6"/>
              </a:solidFill>
              <a:cs typeface="Al Baya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6B5239-5A80-2D34-E77D-39E09064BE4B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0C31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BB9E2-D39C-2981-267C-804E2081CA15}"/>
              </a:ext>
            </a:extLst>
          </p:cNvPr>
          <p:cNvSpPr txBox="1"/>
          <p:nvPr/>
        </p:nvSpPr>
        <p:spPr>
          <a:xfrm>
            <a:off x="699815" y="2312293"/>
            <a:ext cx="14300200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,Sans-Serif"/>
              <a:buChar char="•"/>
            </a:pP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Identify how you </a:t>
            </a:r>
            <a:r>
              <a:rPr lang="en-GB" sz="4400" b="1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can ensure</a:t>
            </a: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 students </a:t>
            </a:r>
            <a:r>
              <a:rPr lang="en-GB" sz="4400" b="1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and apprentices</a:t>
            </a: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GB" sz="4400" b="1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Start</a:t>
            </a: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GB" sz="4400" b="1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Strong</a:t>
            </a: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 &amp;</a:t>
            </a:r>
            <a:r>
              <a:rPr lang="en-GB" sz="4400" b="1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GB" sz="4400" b="1" i="0" u="none" strike="noStrike" baseline="0" dirty="0">
                <a:solidFill>
                  <a:srgbClr val="04AEB1"/>
                </a:solidFill>
                <a:latin typeface="Calibri"/>
                <a:ea typeface="Arial"/>
                <a:cs typeface="Arial"/>
              </a:rPr>
              <a:t>Finish Stronger</a:t>
            </a:r>
            <a:r>
              <a:rPr lang="en-GB" sz="4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r>
              <a:rPr lang="en-US" sz="44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br>
              <a:rPr lang="en-US" sz="4400" dirty="0">
                <a:latin typeface="Calibri"/>
                <a:ea typeface="Arial"/>
                <a:cs typeface="Arial"/>
              </a:rPr>
            </a:br>
            <a:br>
              <a:rPr lang="en-US" sz="4400" dirty="0">
                <a:latin typeface="Calibri"/>
                <a:ea typeface="Arial"/>
                <a:cs typeface="Arial"/>
              </a:rPr>
            </a:br>
            <a:endParaRPr lang="en-US" sz="4400" dirty="0">
              <a:latin typeface="Calibri"/>
              <a:ea typeface="Arial"/>
              <a:cs typeface="Arial"/>
            </a:endParaRPr>
          </a:p>
          <a:p>
            <a:r>
              <a:rPr lang="en-US" sz="4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What do you understand by the term ‘Starting Stronger’?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6966D-9307-4440-4219-2C7DCBC126EB}"/>
              </a:ext>
            </a:extLst>
          </p:cNvPr>
          <p:cNvSpPr txBox="1"/>
          <p:nvPr/>
        </p:nvSpPr>
        <p:spPr>
          <a:xfrm>
            <a:off x="8128000" y="457200"/>
            <a:ext cx="81280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6600" b="1" i="0" u="none" strike="noStrike" baseline="0">
                <a:solidFill>
                  <a:srgbClr val="0C3162"/>
                </a:solidFill>
                <a:latin typeface="Calibri"/>
              </a:rPr>
              <a:t>Starter</a:t>
            </a:r>
            <a:r>
              <a:rPr sz="6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r>
              <a:rPr lang="en-US" sz="6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6600" b="1">
                <a:solidFill>
                  <a:srgbClr val="0C3162"/>
                </a:solidFill>
                <a:latin typeface="Calibri"/>
              </a:rPr>
              <a:t>Question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161B9-9EBC-CB1C-FF1B-79B112270B86}"/>
              </a:ext>
            </a:extLst>
          </p:cNvPr>
          <p:cNvSpPr txBox="1"/>
          <p:nvPr/>
        </p:nvSpPr>
        <p:spPr>
          <a:xfrm>
            <a:off x="7714673" y="7978914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000">
                <a:solidFill>
                  <a:srgbClr val="575A5F"/>
                </a:solidFill>
                <a:cs typeface="Al Bayan Plain" pitchFamily="2" charset="-78"/>
              </a:rPr>
              <a:t>(Lead: Dan Tagg)</a:t>
            </a:r>
            <a:endParaRPr lang="en-GB"/>
          </a:p>
        </p:txBody>
      </p:sp>
      <p:pic>
        <p:nvPicPr>
          <p:cNvPr id="9" name="Picture 8" descr="Press releases and information - Mentimeter">
            <a:extLst>
              <a:ext uri="{FF2B5EF4-FFF2-40B4-BE49-F238E27FC236}">
                <a16:creationId xmlns:a16="http://schemas.microsoft.com/office/drawing/2014/main" id="{9E420791-6B90-CA40-D95F-9090DFA1B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2" y="6554225"/>
            <a:ext cx="3715406" cy="22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4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094F14-A5FB-7E9A-B4C9-E1CE123388D4}"/>
              </a:ext>
            </a:extLst>
          </p:cNvPr>
          <p:cNvSpPr txBox="1"/>
          <p:nvPr/>
        </p:nvSpPr>
        <p:spPr>
          <a:xfrm>
            <a:off x="888999" y="456151"/>
            <a:ext cx="14921807" cy="11079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6600" b="1" dirty="0">
                <a:solidFill>
                  <a:srgbClr val="060A0E"/>
                </a:solidFill>
                <a:latin typeface="+mj-lt"/>
                <a:cs typeface="AL BAYAN PLAIN" pitchFamily="2" charset="-78"/>
              </a:rPr>
              <a:t>Starting Strong(er) – What is it?  </a:t>
            </a:r>
            <a:endParaRPr lang="en-GB" sz="6600" b="1" dirty="0">
              <a:solidFill>
                <a:srgbClr val="575A5F"/>
              </a:solidFill>
              <a:cs typeface="AL BAYAN PLAIN" pitchFamily="2" charset="-78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7564896-1B1B-2273-6E45-9BF0548F6C0A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4855FF-C08B-D1A2-DA7D-2D726A43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7"/>
          <a:stretch>
            <a:fillRect/>
          </a:stretch>
        </p:blipFill>
        <p:spPr>
          <a:xfrm>
            <a:off x="2049153" y="2736085"/>
            <a:ext cx="11882977" cy="45153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63587F-AD7A-A78B-0D41-9B31105FF239}"/>
              </a:ext>
            </a:extLst>
          </p:cNvPr>
          <p:cNvSpPr txBox="1"/>
          <p:nvPr/>
        </p:nvSpPr>
        <p:spPr>
          <a:xfrm>
            <a:off x="6857999" y="7736808"/>
            <a:ext cx="10082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Participation and development….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5699A-7B46-C893-D7C7-0DE2508D7485}"/>
              </a:ext>
            </a:extLst>
          </p:cNvPr>
          <p:cNvSpPr txBox="1"/>
          <p:nvPr/>
        </p:nvSpPr>
        <p:spPr>
          <a:xfrm>
            <a:off x="320841" y="1892542"/>
            <a:ext cx="10082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Positive learner relationships?</a:t>
            </a:r>
          </a:p>
        </p:txBody>
      </p:sp>
    </p:spTree>
    <p:extLst>
      <p:ext uri="{BB962C8B-B14F-4D97-AF65-F5344CB8AC3E}">
        <p14:creationId xmlns:p14="http://schemas.microsoft.com/office/powerpoint/2010/main" val="241490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05DA3C-4209-35A5-C7FA-07B4525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4E874A-6CA9-3E20-9322-AD857C313F25}"/>
              </a:ext>
            </a:extLst>
          </p:cNvPr>
          <p:cNvSpPr txBox="1"/>
          <p:nvPr/>
        </p:nvSpPr>
        <p:spPr>
          <a:xfrm>
            <a:off x="889000" y="685800"/>
            <a:ext cx="14986000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Starting Strong – A Snapshot…</a:t>
            </a:r>
            <a:endParaRPr lang="en-GB" sz="6000" b="1" dirty="0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1B0AE77-48C4-F05E-2F1C-E89D440DA538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436BB0-6CE2-7C0A-F26F-7045CFBB0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2628900"/>
            <a:ext cx="7772400" cy="582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05FDA4-E9D2-7404-8853-F374DE0F37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99" y="2311802"/>
            <a:ext cx="7772400" cy="5829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4CCA3F-CB92-9ED4-E5CC-2B3F7D18E1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968" y="2128965"/>
            <a:ext cx="4886325" cy="6515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A5DC30-8E20-AA63-2AD2-7532180BB9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400" y="2039728"/>
            <a:ext cx="7772400" cy="5829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467FEE-CE45-C390-591C-58233DA8E6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2387263"/>
            <a:ext cx="7772400" cy="5829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BCE728-F812-2797-95B3-67D58F370A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0" y="3162300"/>
            <a:ext cx="7772400" cy="5829300"/>
          </a:xfrm>
          <a:prstGeom prst="rect">
            <a:avLst/>
          </a:prstGeom>
        </p:spPr>
      </p:pic>
      <p:pic>
        <p:nvPicPr>
          <p:cNvPr id="2" name="Hammer_shaping_glowing_iron_1080p_20260922225513">
            <a:hlinkClick r:id="" action="ppaction://media"/>
            <a:extLst>
              <a:ext uri="{FF2B5EF4-FFF2-40B4-BE49-F238E27FC236}">
                <a16:creationId xmlns:a16="http://schemas.microsoft.com/office/drawing/2014/main" id="{334B630E-A45B-E996-6211-1900A1E16F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r="50215" b="8614"/>
          <a:stretch>
            <a:fillRect/>
          </a:stretch>
        </p:blipFill>
        <p:spPr>
          <a:xfrm>
            <a:off x="-22400" y="2079709"/>
            <a:ext cx="6694131" cy="69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5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DA3C-4209-35A5-C7FA-07B4525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4E874A-6CA9-3E20-9322-AD857C313F25}"/>
              </a:ext>
            </a:extLst>
          </p:cNvPr>
          <p:cNvSpPr txBox="1"/>
          <p:nvPr/>
        </p:nvSpPr>
        <p:spPr>
          <a:xfrm>
            <a:off x="889000" y="685800"/>
            <a:ext cx="14986000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Starting Strong – A </a:t>
            </a:r>
            <a:r>
              <a:rPr lang="en-GB" sz="6000" b="1" u="sng" dirty="0">
                <a:solidFill>
                  <a:srgbClr val="8A4BD1"/>
                </a:solidFill>
                <a:latin typeface="+mj-lt"/>
                <a:cs typeface="AL BAYAN PLAIN"/>
              </a:rPr>
              <a:t>B</a:t>
            </a:r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e </a:t>
            </a:r>
            <a:r>
              <a:rPr lang="en-GB" sz="6000" b="1" u="sng" dirty="0">
                <a:solidFill>
                  <a:srgbClr val="8A4BD1"/>
                </a:solidFill>
                <a:latin typeface="+mj-lt"/>
                <a:cs typeface="AL BAYAN PLAIN"/>
              </a:rPr>
              <a:t>G</a:t>
            </a:r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reat approach… </a:t>
            </a:r>
            <a:r>
              <a:rPr lang="en-GB" sz="6000" b="1" dirty="0">
                <a:solidFill>
                  <a:srgbClr val="8A4BD1"/>
                </a:solidFill>
                <a:latin typeface="+mj-lt"/>
                <a:cs typeface="AL BAYAN PLAIN"/>
              </a:rPr>
              <a:t>10</a:t>
            </a:r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/10</a:t>
            </a:r>
            <a:endParaRPr lang="en-GB" sz="6000" b="1" dirty="0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1B0AE77-48C4-F05E-2F1C-E89D440DA538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C1B9F-BDB9-C658-627D-A64629D76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54102"/>
            <a:ext cx="7772400" cy="5829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041D4D-BBE4-B00F-D479-083EDD57CD35}"/>
              </a:ext>
            </a:extLst>
          </p:cNvPr>
          <p:cNvSpPr txBox="1"/>
          <p:nvPr/>
        </p:nvSpPr>
        <p:spPr>
          <a:xfrm>
            <a:off x="8888819" y="2254102"/>
            <a:ext cx="6757581" cy="4834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525"/>
              </a:spcBef>
              <a:spcAft>
                <a:spcPts val="525"/>
              </a:spcAft>
              <a:buNone/>
            </a:pPr>
            <a:r>
              <a:rPr lang="en-GB" sz="4000" b="1" i="0" dirty="0">
                <a:effectLst/>
                <a:latin typeface="+mn-lt"/>
              </a:rPr>
              <a:t>Evidence Learner Voice:</a:t>
            </a:r>
            <a:r>
              <a:rPr lang="en-GB" sz="4000" b="0" i="0" dirty="0">
                <a:effectLst/>
                <a:latin typeface="+mn-lt"/>
              </a:rPr>
              <a:t> </a:t>
            </a:r>
          </a:p>
          <a:p>
            <a:r>
              <a:rPr lang="en-GB" sz="4400" dirty="0"/>
              <a:t>“The teachers are lovely. So that's Matt and David. I'm really enjoying the course.</a:t>
            </a:r>
          </a:p>
          <a:p>
            <a:r>
              <a:rPr lang="en-GB" sz="4400" dirty="0"/>
              <a:t>I feel like I've found my career here. </a:t>
            </a:r>
            <a:r>
              <a:rPr lang="en-GB" sz="4400" b="1" dirty="0"/>
              <a:t>I feel like I want to do cheffing.”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A68742-C249-D1C9-6268-112C22D32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7000" y="1013460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9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00469 -0.467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" y="-233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4153-2EA8-E955-F5DA-9C6F6E9D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697697-4536-85F4-71E7-B1D7450AE09A}"/>
              </a:ext>
            </a:extLst>
          </p:cNvPr>
          <p:cNvSpPr txBox="1"/>
          <p:nvPr/>
        </p:nvSpPr>
        <p:spPr>
          <a:xfrm>
            <a:off x="889000" y="685800"/>
            <a:ext cx="14173200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 dirty="0">
                <a:solidFill>
                  <a:srgbClr val="060A0E"/>
                </a:solidFill>
                <a:latin typeface="+mj-lt"/>
                <a:cs typeface="AL BAYAN PLAIN"/>
              </a:rPr>
              <a:t>Starting Strong – A Wider Perspective</a:t>
            </a:r>
            <a:endParaRPr lang="en-GB" sz="6000" b="1" dirty="0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11CADF3-A1F7-F31B-658B-3D3D7E748BED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1EB8F-E3A8-878B-DA9F-3C49407CDFE8}"/>
              </a:ext>
            </a:extLst>
          </p:cNvPr>
          <p:cNvSpPr txBox="1"/>
          <p:nvPr/>
        </p:nvSpPr>
        <p:spPr>
          <a:xfrm>
            <a:off x="720996" y="1996897"/>
            <a:ext cx="14646003" cy="6273512"/>
          </a:xfrm>
          <a:prstGeom prst="rect">
            <a:avLst/>
          </a:prstGeom>
          <a:noFill/>
          <a:ln w="76200">
            <a:solidFill>
              <a:srgbClr val="04AEB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indent="0" algn="l">
              <a:spcBef>
                <a:spcPts val="525"/>
              </a:spcBef>
              <a:spcAft>
                <a:spcPts val="525"/>
              </a:spcAft>
              <a:buNone/>
            </a:pPr>
            <a:r>
              <a:rPr lang="en-GB" sz="4000" b="1" i="0" dirty="0">
                <a:effectLst/>
                <a:latin typeface="+mn-lt"/>
              </a:rPr>
              <a:t>Evidence:</a:t>
            </a:r>
            <a:r>
              <a:rPr lang="en-GB" sz="4000" b="0" i="0" dirty="0">
                <a:effectLst/>
                <a:latin typeface="+mn-lt"/>
              </a:rPr>
              <a:t> </a:t>
            </a:r>
          </a:p>
          <a:p>
            <a:pPr marL="0" marR="0" indent="0" algn="l">
              <a:spcBef>
                <a:spcPts val="525"/>
              </a:spcBef>
              <a:spcAft>
                <a:spcPts val="525"/>
              </a:spcAft>
              <a:buNone/>
            </a:pPr>
            <a:r>
              <a:rPr lang="en-GB" sz="4000" b="0" i="0" dirty="0">
                <a:effectLst/>
                <a:latin typeface="+mn-lt"/>
              </a:rPr>
              <a:t>"Starting points are identified but underused: Everybody uses the initial assessment </a:t>
            </a:r>
            <a:r>
              <a:rPr lang="en-GB" sz="4000" b="1" i="0" dirty="0">
                <a:effectLst/>
              </a:rPr>
              <a:t>but then not much is done with it afterwards once scores are recorded</a:t>
            </a:r>
            <a:r>
              <a:rPr lang="en-GB" sz="4000" b="1" dirty="0"/>
              <a:t>".</a:t>
            </a:r>
            <a:r>
              <a:rPr lang="en-GB" sz="4000" b="1" i="0" dirty="0">
                <a:effectLst/>
              </a:rPr>
              <a:t> </a:t>
            </a:r>
            <a:endParaRPr lang="en-GB" sz="4000" b="1" i="0" dirty="0">
              <a:effectLst/>
              <a:ea typeface="Calibri"/>
              <a:cs typeface="Calibri"/>
            </a:endParaRPr>
          </a:p>
          <a:p>
            <a:pPr>
              <a:spcBef>
                <a:spcPts val="525"/>
              </a:spcBef>
              <a:spcAft>
                <a:spcPts val="525"/>
              </a:spcAft>
            </a:pPr>
            <a:endParaRPr lang="en-GB" sz="4000" dirty="0"/>
          </a:p>
          <a:p>
            <a:pPr>
              <a:spcBef>
                <a:spcPts val="525"/>
              </a:spcBef>
              <a:spcAft>
                <a:spcPts val="525"/>
              </a:spcAft>
            </a:pPr>
            <a:r>
              <a:rPr lang="en-GB" sz="4000" b="1" dirty="0"/>
              <a:t> </a:t>
            </a:r>
            <a:r>
              <a:rPr lang="en-GB" sz="4000" i="0" dirty="0">
                <a:effectLst/>
              </a:rPr>
              <a:t>"Our initial assessment is actually their last assessment in schools." </a:t>
            </a:r>
            <a:endParaRPr lang="en-GB" sz="4000" i="0" dirty="0">
              <a:effectLst/>
              <a:ea typeface="Calibri"/>
              <a:cs typeface="Calibri"/>
            </a:endParaRPr>
          </a:p>
          <a:p>
            <a:pPr>
              <a:spcBef>
                <a:spcPts val="525"/>
              </a:spcBef>
              <a:spcAft>
                <a:spcPts val="525"/>
              </a:spcAft>
            </a:pPr>
            <a:endParaRPr lang="en-GB" sz="4000" dirty="0">
              <a:latin typeface="Calibri"/>
              <a:ea typeface="Calibri"/>
              <a:cs typeface="Calibri"/>
            </a:endParaRPr>
          </a:p>
          <a:p>
            <a:pPr>
              <a:spcBef>
                <a:spcPts val="525"/>
              </a:spcBef>
              <a:spcAft>
                <a:spcPts val="525"/>
              </a:spcAft>
            </a:pPr>
            <a:r>
              <a:rPr lang="en-GB" sz="4000" dirty="0">
                <a:latin typeface="Calibri"/>
                <a:ea typeface="Calibri"/>
                <a:cs typeface="Calibri"/>
              </a:rPr>
              <a:t>Limited curriculum adaptation based on learner need: </a:t>
            </a:r>
            <a:r>
              <a:rPr lang="en-GB" sz="4000" b="1" dirty="0">
                <a:latin typeface="Calibri"/>
                <a:ea typeface="Calibri"/>
                <a:cs typeface="Calibri"/>
              </a:rPr>
              <a:t>"We've got this baseline but we kind of ignore it and just teach what we teach."</a:t>
            </a:r>
            <a:endParaRPr lang="en-GB" sz="1600" b="1" dirty="0">
              <a:solidFill>
                <a:srgbClr val="27364B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986A00-A48F-8B38-B74B-63659308E73C}"/>
              </a:ext>
            </a:extLst>
          </p:cNvPr>
          <p:cNvSpPr txBox="1"/>
          <p:nvPr/>
        </p:nvSpPr>
        <p:spPr>
          <a:xfrm>
            <a:off x="12242800" y="84582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South Devon Staff – Course SARs (2026)</a:t>
            </a:r>
          </a:p>
        </p:txBody>
      </p:sp>
    </p:spTree>
    <p:extLst>
      <p:ext uri="{BB962C8B-B14F-4D97-AF65-F5344CB8AC3E}">
        <p14:creationId xmlns:p14="http://schemas.microsoft.com/office/powerpoint/2010/main" val="30036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1465-2B3F-47A7-C710-838B9F3D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86317C-B2FE-7FB9-298D-507BA08DDC58}"/>
              </a:ext>
            </a:extLst>
          </p:cNvPr>
          <p:cNvSpPr txBox="1"/>
          <p:nvPr/>
        </p:nvSpPr>
        <p:spPr>
          <a:xfrm>
            <a:off x="1041400" y="152399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>
                <a:solidFill>
                  <a:srgbClr val="060A0E"/>
                </a:solidFill>
                <a:latin typeface="+mj-lt"/>
                <a:cs typeface="AL BAYAN PLAIN"/>
              </a:rPr>
              <a:t>Starting Strong – Why?  </a:t>
            </a:r>
            <a:endParaRPr lang="en-GB" sz="6600" b="1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961538B-B49A-E291-8A6E-CCB20AB0B8BC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F7EFF-691E-A8F9-CB65-D6D5A17FC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16890" r="1949" b="12229"/>
          <a:stretch>
            <a:fillRect/>
          </a:stretch>
        </p:blipFill>
        <p:spPr>
          <a:xfrm>
            <a:off x="0" y="1260394"/>
            <a:ext cx="16332195" cy="67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7FE44D-5A63-E686-4008-F6B37FF502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5" t="16391" r="86589" b="69421"/>
          <a:stretch>
            <a:fillRect/>
          </a:stretch>
        </p:blipFill>
        <p:spPr>
          <a:xfrm>
            <a:off x="0" y="8021732"/>
            <a:ext cx="16272000" cy="816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1D53E1-B1CF-558B-26C2-88C00C4226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5" t="16391" r="86589" b="69421"/>
          <a:stretch>
            <a:fillRect/>
          </a:stretch>
        </p:blipFill>
        <p:spPr>
          <a:xfrm>
            <a:off x="85600" y="6246730"/>
            <a:ext cx="16272000" cy="21763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3165BD-4B39-6CCC-4D40-A5DD1F67BD92}"/>
              </a:ext>
            </a:extLst>
          </p:cNvPr>
          <p:cNvSpPr txBox="1"/>
          <p:nvPr/>
        </p:nvSpPr>
        <p:spPr>
          <a:xfrm>
            <a:off x="754554" y="168269"/>
            <a:ext cx="13547969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>
                <a:solidFill>
                  <a:srgbClr val="060A0E"/>
                </a:solidFill>
                <a:latin typeface="+mj-lt"/>
                <a:cs typeface="AL BAYAN PLAIN"/>
              </a:rPr>
              <a:t>Understanding the implementation gap</a:t>
            </a:r>
            <a:endParaRPr lang="en-GB" sz="6000" b="1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A9F0C-14A3-AA6A-E8D7-B34F32A17372}"/>
              </a:ext>
            </a:extLst>
          </p:cNvPr>
          <p:cNvSpPr txBox="1"/>
          <p:nvPr/>
        </p:nvSpPr>
        <p:spPr>
          <a:xfrm>
            <a:off x="13621407" y="8405634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Kalyuga et al., (2003)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1DF8AB-7F9F-ACBE-5E15-BCE26078E5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719200" y="5524500"/>
            <a:ext cx="6502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BAA053-D739-3417-405A-460D7B9FAEA1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 spc="-150">
                <a:solidFill>
                  <a:srgbClr val="0C1314"/>
                </a:solidFill>
                <a:latin typeface="+mj-lt"/>
                <a:cs typeface="AL BAYAN PLAIN"/>
              </a:rPr>
              <a:t>Starting Strong </a:t>
            </a:r>
            <a:r>
              <a:rPr lang="en-GB" sz="4800" spc="-150">
                <a:solidFill>
                  <a:srgbClr val="394A59"/>
                </a:solidFill>
                <a:latin typeface="+mj-lt"/>
                <a:cs typeface="Al Bayan Plain"/>
              </a:rPr>
              <a:t>(Adult Curriculum)</a:t>
            </a:r>
            <a:endParaRPr lang="en-GB" sz="6600" b="1" spc="-150">
              <a:solidFill>
                <a:srgbClr val="394A59"/>
              </a:solidFill>
              <a:latin typeface="+mj-lt"/>
              <a:cs typeface="Al Bayan Plain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316DE83-9546-01D5-3C19-A1DBB907DB3D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D4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7A100F-3069-BAF0-28D1-5FB3D1C3F8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781" b="4631"/>
          <a:stretch>
            <a:fillRect/>
          </a:stretch>
        </p:blipFill>
        <p:spPr>
          <a:xfrm>
            <a:off x="0" y="6629399"/>
            <a:ext cx="16319500" cy="2057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BE255-95FD-3B0D-D8AD-E9AF4A2B77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5" t="11927" r="33773"/>
          <a:stretch>
            <a:fillRect/>
          </a:stretch>
        </p:blipFill>
        <p:spPr>
          <a:xfrm>
            <a:off x="5871894" y="1939801"/>
            <a:ext cx="10067401" cy="64656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CC7D12-11D5-EB4D-C596-75ADAFAE6DA9}"/>
              </a:ext>
            </a:extLst>
          </p:cNvPr>
          <p:cNvSpPr txBox="1"/>
          <p:nvPr/>
        </p:nvSpPr>
        <p:spPr>
          <a:xfrm>
            <a:off x="741237" y="2827316"/>
            <a:ext cx="4675059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>
                <a:solidFill>
                  <a:srgbClr val="366092"/>
                </a:solidFill>
                <a:ea typeface="Calibri"/>
                <a:cs typeface="Calibri"/>
              </a:rPr>
              <a:t>Tailored Learning Outcomes </a:t>
            </a:r>
          </a:p>
          <a:p>
            <a:pPr algn="ctr"/>
            <a:endParaRPr lang="en-GB" sz="4000" b="1">
              <a:solidFill>
                <a:srgbClr val="366092"/>
              </a:solidFill>
              <a:ea typeface="Calibri"/>
              <a:cs typeface="Calibri"/>
            </a:endParaRPr>
          </a:p>
          <a:p>
            <a:pPr algn="ctr"/>
            <a:r>
              <a:rPr lang="en-GB" sz="4000" b="1">
                <a:solidFill>
                  <a:srgbClr val="366092"/>
                </a:solidFill>
                <a:ea typeface="Calibri"/>
                <a:cs typeface="Calibri"/>
              </a:rPr>
              <a:t>Aligning ALL adult curriculum </a:t>
            </a:r>
          </a:p>
        </p:txBody>
      </p:sp>
    </p:spTree>
    <p:extLst>
      <p:ext uri="{BB962C8B-B14F-4D97-AF65-F5344CB8AC3E}">
        <p14:creationId xmlns:p14="http://schemas.microsoft.com/office/powerpoint/2010/main" val="38397100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B00F-B49C-D8F1-D595-54C96C06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90F9E-D79B-60B9-39F7-0C652BD35E14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 spc="-150">
                <a:solidFill>
                  <a:srgbClr val="060A0E"/>
                </a:solidFill>
                <a:latin typeface="+mj-lt"/>
                <a:cs typeface="AL BAYAN PLAIN"/>
              </a:rPr>
              <a:t>Starting Strong </a:t>
            </a:r>
            <a:r>
              <a:rPr lang="en-GB" sz="4800" spc="-150">
                <a:solidFill>
                  <a:srgbClr val="23262A"/>
                </a:solidFill>
                <a:latin typeface="+mj-lt"/>
                <a:cs typeface="Al Bayan Plain"/>
              </a:rPr>
              <a:t>(Adult Curriculum)</a:t>
            </a:r>
            <a:endParaRPr lang="en-GB" sz="6600" b="1" spc="-150">
              <a:solidFill>
                <a:srgbClr val="23262A"/>
              </a:solidFill>
              <a:latin typeface="+mj-lt"/>
              <a:cs typeface="Al Bayan Plai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27EA9-019C-088F-598A-EE88952FFB05}"/>
              </a:ext>
            </a:extLst>
          </p:cNvPr>
          <p:cNvSpPr txBox="1"/>
          <p:nvPr/>
        </p:nvSpPr>
        <p:spPr>
          <a:xfrm>
            <a:off x="1061928" y="2258176"/>
            <a:ext cx="14185053" cy="563231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1143000" indent="-1143000">
              <a:buAutoNum type="arabicPeriod"/>
            </a:pPr>
            <a:r>
              <a:rPr lang="en-GB" sz="4000">
                <a:ea typeface="Calibri"/>
                <a:cs typeface="Calibri"/>
              </a:rPr>
              <a:t>Align to one (or more) of the outcomes </a:t>
            </a:r>
          </a:p>
          <a:p>
            <a:pPr marL="914400" indent="-914400">
              <a:buAutoNum type="arabicPeriod"/>
            </a:pPr>
            <a:endParaRPr lang="en-GB" sz="4000">
              <a:ea typeface="Calibri"/>
              <a:cs typeface="Calibri"/>
            </a:endParaRPr>
          </a:p>
          <a:p>
            <a:pPr marL="1143000" indent="-1143000">
              <a:buAutoNum type="arabicPeriod"/>
            </a:pPr>
            <a:r>
              <a:rPr lang="en-GB" sz="4000">
                <a:ea typeface="Calibri"/>
                <a:cs typeface="Calibri"/>
              </a:rPr>
              <a:t>Initially assess which of these your students want to achieve</a:t>
            </a:r>
          </a:p>
          <a:p>
            <a:pPr marL="914400" indent="-914400">
              <a:buAutoNum type="arabicPeriod"/>
            </a:pPr>
            <a:endParaRPr lang="en-GB" sz="4000">
              <a:ea typeface="Calibri"/>
              <a:cs typeface="Calibri"/>
            </a:endParaRPr>
          </a:p>
          <a:p>
            <a:pPr marL="1143000" indent="-1143000">
              <a:buAutoNum type="arabicPeriod"/>
            </a:pPr>
            <a:r>
              <a:rPr lang="en-GB" sz="4000">
                <a:ea typeface="Calibri"/>
                <a:cs typeface="Calibri"/>
              </a:rPr>
              <a:t>Explore wider PD options (other courses) </a:t>
            </a:r>
          </a:p>
          <a:p>
            <a:pPr marL="914400" indent="-914400">
              <a:buAutoNum type="arabicPeriod"/>
            </a:pPr>
            <a:endParaRPr lang="en-GB" sz="4000">
              <a:ea typeface="Calibri"/>
              <a:cs typeface="Calibri"/>
            </a:endParaRPr>
          </a:p>
          <a:p>
            <a:pPr marL="1143000" indent="-1143000">
              <a:buAutoNum type="arabicPeriod"/>
            </a:pPr>
            <a:r>
              <a:rPr lang="en-GB" sz="4000">
                <a:ea typeface="Calibri"/>
                <a:cs typeface="Calibri"/>
              </a:rPr>
              <a:t>Measure outcomes </a:t>
            </a:r>
          </a:p>
          <a:p>
            <a:pPr marL="914400" indent="-914400">
              <a:buAutoNum type="arabicPeriod"/>
            </a:pPr>
            <a:endParaRPr lang="en-GB" sz="4000">
              <a:ea typeface="Calibri"/>
              <a:cs typeface="Calibri"/>
            </a:endParaRPr>
          </a:p>
          <a:p>
            <a:pPr marL="1143000" indent="-1143000">
              <a:buAutoNum type="arabicPeriod"/>
            </a:pPr>
            <a:r>
              <a:rPr lang="en-GB" sz="4000">
                <a:ea typeface="Calibri"/>
                <a:cs typeface="Calibri"/>
              </a:rPr>
              <a:t>Reflect, adapt, market 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ED00B47-43AC-762F-146E-79C88DCA88AC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D4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1548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C52C-BA07-9957-07BA-D0AE6065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622F3-42B7-ADA6-2356-903932375087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 spc="-150" dirty="0">
                <a:solidFill>
                  <a:srgbClr val="060A0E"/>
                </a:solidFill>
                <a:latin typeface="+mj-lt"/>
                <a:cs typeface="AL BAYAN PLAIN"/>
              </a:rPr>
              <a:t>Starting Strong – P &amp; D </a:t>
            </a:r>
            <a:r>
              <a:rPr lang="en-GB" sz="4800" spc="-150" dirty="0">
                <a:solidFill>
                  <a:srgbClr val="23262A"/>
                </a:solidFill>
                <a:latin typeface="+mj-lt"/>
                <a:cs typeface="Al Bayan Plain"/>
              </a:rPr>
              <a:t>(Adult Curriculum)</a:t>
            </a:r>
            <a:endParaRPr lang="en-GB" sz="6600" b="1" spc="-150" dirty="0">
              <a:solidFill>
                <a:srgbClr val="23262A"/>
              </a:solidFill>
              <a:latin typeface="+mj-lt"/>
              <a:cs typeface="Al Bayan Plain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C9AE05E-9ED9-C358-0E7E-022657E66EBF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D4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4C359-1058-346C-B4CF-E0E597BBC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32" y="1820327"/>
            <a:ext cx="9546389" cy="6759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BEEA9-87D9-1AF4-F0C5-4FE980A64BCD}"/>
              </a:ext>
            </a:extLst>
          </p:cNvPr>
          <p:cNvSpPr txBox="1"/>
          <p:nvPr/>
        </p:nvSpPr>
        <p:spPr>
          <a:xfrm>
            <a:off x="11614079" y="8068270"/>
            <a:ext cx="8128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solidFill>
                  <a:srgbClr val="394A59"/>
                </a:solidFill>
                <a:latin typeface="Calibri"/>
              </a:rPr>
              <a:t>Lead: Maria W 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89893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D809-139C-1DD5-FDF0-3C4D478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3634A1-1C45-5B93-08A6-CE0A3B5F85DF}"/>
              </a:ext>
            </a:extLst>
          </p:cNvPr>
          <p:cNvSpPr txBox="1"/>
          <p:nvPr/>
        </p:nvSpPr>
        <p:spPr>
          <a:xfrm>
            <a:off x="715335" y="292743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6600" b="1" spc="-150" dirty="0">
                <a:solidFill>
                  <a:srgbClr val="060A0E"/>
                </a:solidFill>
                <a:latin typeface="+mj-lt"/>
                <a:cs typeface="AL BAYAN PLAIN"/>
              </a:rPr>
              <a:t>Starting Strong – P &amp; D </a:t>
            </a:r>
            <a:r>
              <a:rPr lang="en-GB" sz="4800" spc="-150" dirty="0">
                <a:solidFill>
                  <a:srgbClr val="23262A"/>
                </a:solidFill>
                <a:latin typeface="+mj-lt"/>
                <a:cs typeface="Al Bayan Plain"/>
              </a:rPr>
              <a:t>(Adult Curriculum)</a:t>
            </a:r>
            <a:endParaRPr lang="en-GB" sz="6600" b="1" spc="-150" dirty="0">
              <a:solidFill>
                <a:srgbClr val="23262A"/>
              </a:solidFill>
              <a:latin typeface="+mj-lt"/>
              <a:cs typeface="Al Bayan Plain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13D3F35-2944-279C-BC49-27738D5CE225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D4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8DA1F-53FB-AAC1-4E66-8E5B7ED07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85" y="1573627"/>
            <a:ext cx="10450502" cy="6803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9C794A-0CD3-2D7B-ED2C-CEA4D04DDB51}"/>
              </a:ext>
            </a:extLst>
          </p:cNvPr>
          <p:cNvSpPr txBox="1"/>
          <p:nvPr/>
        </p:nvSpPr>
        <p:spPr>
          <a:xfrm>
            <a:off x="11100391" y="2254102"/>
            <a:ext cx="4546009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525"/>
              </a:spcBef>
              <a:spcAft>
                <a:spcPts val="525"/>
              </a:spcAft>
              <a:buNone/>
            </a:pPr>
            <a:r>
              <a:rPr lang="en-GB" sz="4000" b="1" i="0" dirty="0">
                <a:effectLst/>
                <a:latin typeface="+mn-lt"/>
              </a:rPr>
              <a:t>Different requirements for different course lengths!</a:t>
            </a:r>
          </a:p>
          <a:p>
            <a:pPr marL="0" marR="0" indent="0" algn="l">
              <a:spcBef>
                <a:spcPts val="525"/>
              </a:spcBef>
              <a:spcAft>
                <a:spcPts val="525"/>
              </a:spcAft>
              <a:buNone/>
            </a:pPr>
            <a:endParaRPr lang="en-GB" sz="40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159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AFFE-BF26-A3E6-932A-0CE38C14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278AF1-E99C-2031-8684-2A74747A1945}"/>
              </a:ext>
            </a:extLst>
          </p:cNvPr>
          <p:cNvSpPr txBox="1"/>
          <p:nvPr/>
        </p:nvSpPr>
        <p:spPr>
          <a:xfrm>
            <a:off x="889000" y="177998"/>
            <a:ext cx="14173200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>
                <a:solidFill>
                  <a:srgbClr val="060A0E"/>
                </a:solidFill>
                <a:latin typeface="+mj-lt"/>
                <a:cs typeface="AL BAYAN PLAIN"/>
              </a:rPr>
              <a:t>Starting Strong – How? </a:t>
            </a:r>
            <a:endParaRPr lang="en-GB" sz="6000" b="1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806717-A15E-992C-07E3-57B97DE059A6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A15FE-1C4F-A587-09F5-D9ACB23E01C7}"/>
              </a:ext>
            </a:extLst>
          </p:cNvPr>
          <p:cNvSpPr txBox="1"/>
          <p:nvPr/>
        </p:nvSpPr>
        <p:spPr>
          <a:xfrm>
            <a:off x="1249855" y="1193661"/>
            <a:ext cx="1386840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 sz="7200" dirty="0">
              <a:ea typeface="Calibri"/>
              <a:cs typeface="Calibri"/>
            </a:endParaRPr>
          </a:p>
          <a:p>
            <a:r>
              <a:rPr lang="en-GB" sz="7200" dirty="0">
                <a:ea typeface="Calibri"/>
                <a:cs typeface="Calibri"/>
              </a:rPr>
              <a:t>What are you doing well/ </a:t>
            </a:r>
          </a:p>
          <a:p>
            <a:r>
              <a:rPr lang="en-GB" sz="7200" dirty="0">
                <a:ea typeface="Calibri"/>
                <a:cs typeface="Calibri"/>
              </a:rPr>
              <a:t>What could you do to ensure that learners ‘Start Strong?’</a:t>
            </a:r>
          </a:p>
        </p:txBody>
      </p:sp>
      <p:pic>
        <p:nvPicPr>
          <p:cNvPr id="7" name="Picture 6" descr="Press releases and information - Mentimeter">
            <a:extLst>
              <a:ext uri="{FF2B5EF4-FFF2-40B4-BE49-F238E27FC236}">
                <a16:creationId xmlns:a16="http://schemas.microsoft.com/office/drawing/2014/main" id="{1A691B7F-5C0F-AF36-23AA-C0EBC147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594" y="6498388"/>
            <a:ext cx="3715406" cy="22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4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C8906-81F7-216C-4DB5-EA591C42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CEEC33-9139-89F2-8C89-BC26D3F65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29" y="6984424"/>
            <a:ext cx="14806341" cy="1990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9E2CB1-C7F0-9A1D-D6C6-B39BABD53EBC}"/>
              </a:ext>
            </a:extLst>
          </p:cNvPr>
          <p:cNvSpPr txBox="1"/>
          <p:nvPr/>
        </p:nvSpPr>
        <p:spPr>
          <a:xfrm>
            <a:off x="889000" y="177998"/>
            <a:ext cx="14173200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000" b="1">
                <a:solidFill>
                  <a:srgbClr val="060A0E"/>
                </a:solidFill>
                <a:latin typeface="+mj-lt"/>
                <a:cs typeface="AL BAYAN PLAIN"/>
              </a:rPr>
              <a:t>Finishing Stronger – What? </a:t>
            </a:r>
            <a:endParaRPr lang="en-GB" sz="6000" b="1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DE8BA5C-163C-2737-7838-60B8632FBCFD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71244-6A9F-0A4B-C4B9-335E29AE338F}"/>
              </a:ext>
            </a:extLst>
          </p:cNvPr>
          <p:cNvSpPr txBox="1"/>
          <p:nvPr/>
        </p:nvSpPr>
        <p:spPr>
          <a:xfrm>
            <a:off x="889118" y="1726822"/>
            <a:ext cx="1467144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 sz="4800" dirty="0">
              <a:ea typeface="Calibri"/>
              <a:cs typeface="Calibri"/>
            </a:endParaRPr>
          </a:p>
          <a:p>
            <a:r>
              <a:rPr lang="en-GB" sz="4800" dirty="0">
                <a:ea typeface="Calibri"/>
                <a:cs typeface="Calibri"/>
              </a:rPr>
              <a:t>What do we understand by the term finishing stronger?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28D96-9E32-F0D7-7FCF-8881708FB61E}"/>
              </a:ext>
            </a:extLst>
          </p:cNvPr>
          <p:cNvSpPr txBox="1"/>
          <p:nvPr/>
        </p:nvSpPr>
        <p:spPr>
          <a:xfrm>
            <a:off x="10056059" y="471502"/>
            <a:ext cx="8128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b="0" i="0" u="none" strike="noStrike" baseline="0" dirty="0">
                <a:solidFill>
                  <a:srgbClr val="394A59"/>
                </a:solidFill>
                <a:latin typeface="Calibri"/>
              </a:rPr>
              <a:t>(Lead: </a:t>
            </a:r>
            <a:r>
              <a:rPr lang="en-GB" sz="4000" dirty="0">
                <a:solidFill>
                  <a:srgbClr val="394A59"/>
                </a:solidFill>
                <a:latin typeface="Calibri"/>
              </a:rPr>
              <a:t>Darren Bird</a:t>
            </a:r>
            <a:r>
              <a:rPr lang="en-GB" sz="4000" b="0" i="0" u="none" strike="noStrike" baseline="0" dirty="0">
                <a:solidFill>
                  <a:srgbClr val="394A59"/>
                </a:solidFill>
                <a:latin typeface="Calibri"/>
              </a:rPr>
              <a:t>)</a:t>
            </a:r>
            <a:endParaRPr lang="en-US" sz="1400" dirty="0"/>
          </a:p>
          <a:p>
            <a:pPr algn="ctr"/>
            <a:endParaRPr lang="en-US" sz="1400" dirty="0"/>
          </a:p>
        </p:txBody>
      </p:sp>
      <p:pic>
        <p:nvPicPr>
          <p:cNvPr id="7" name="Picture 6" descr="Press releases and information - Mentimeter">
            <a:extLst>
              <a:ext uri="{FF2B5EF4-FFF2-40B4-BE49-F238E27FC236}">
                <a16:creationId xmlns:a16="http://schemas.microsoft.com/office/drawing/2014/main" id="{705CF9CA-0616-65CB-2ADA-8DD19D1E2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29" y="3331036"/>
            <a:ext cx="2017827" cy="124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6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17A8-FE67-D77C-6694-A52E73F6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C2C210-F696-F9F1-5A8D-273367C4375D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Finishing Stronger 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CDF08-96C1-C019-559E-4E65ED922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259" b="-1852"/>
          <a:stretch>
            <a:fillRect/>
          </a:stretch>
        </p:blipFill>
        <p:spPr>
          <a:xfrm>
            <a:off x="7542609" y="514053"/>
            <a:ext cx="8647498" cy="1565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A33E50-49C2-0DFF-9622-77B53E979293}"/>
              </a:ext>
            </a:extLst>
          </p:cNvPr>
          <p:cNvSpPr/>
          <p:nvPr/>
        </p:nvSpPr>
        <p:spPr>
          <a:xfrm>
            <a:off x="7303058" y="1132953"/>
            <a:ext cx="284733" cy="2287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1A1EA9-3267-B7BC-E244-4D0AD60B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41" y="2035700"/>
            <a:ext cx="11894905" cy="70816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86EDC5-AF7D-9CF3-DA20-6F9C063D3DE9}"/>
              </a:ext>
            </a:extLst>
          </p:cNvPr>
          <p:cNvSpPr txBox="1"/>
          <p:nvPr/>
        </p:nvSpPr>
        <p:spPr>
          <a:xfrm>
            <a:off x="14079593" y="6958568"/>
            <a:ext cx="1759949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Improvement Focus Area (IFA) 'Finishing Stronger' audit 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APR-May 2026</a:t>
            </a:r>
          </a:p>
        </p:txBody>
      </p:sp>
    </p:spTree>
    <p:extLst>
      <p:ext uri="{BB962C8B-B14F-4D97-AF65-F5344CB8AC3E}">
        <p14:creationId xmlns:p14="http://schemas.microsoft.com/office/powerpoint/2010/main" val="12171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F48D-B7D8-3D48-8930-CE162757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2F39D7-6C81-31CA-3FB3-D9C961D9497D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Finishing Stronger 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C2729-2919-7AA1-6DED-C9235BD067EC}"/>
              </a:ext>
            </a:extLst>
          </p:cNvPr>
          <p:cNvSpPr/>
          <p:nvPr/>
        </p:nvSpPr>
        <p:spPr>
          <a:xfrm>
            <a:off x="7303058" y="1132953"/>
            <a:ext cx="284733" cy="2287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2BA535-BE4F-DD1D-2206-4F9E96E1B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06" r="52399" b="-4682"/>
          <a:stretch>
            <a:fillRect/>
          </a:stretch>
        </p:blipFill>
        <p:spPr>
          <a:xfrm>
            <a:off x="7522222" y="466610"/>
            <a:ext cx="8732209" cy="17882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3A139E-5795-40C1-D57C-E9302E53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09" y="1853194"/>
            <a:ext cx="11541477" cy="7068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4AADA-23F6-CC1B-79A3-5AF6D7A1CEAB}"/>
              </a:ext>
            </a:extLst>
          </p:cNvPr>
          <p:cNvSpPr txBox="1"/>
          <p:nvPr/>
        </p:nvSpPr>
        <p:spPr>
          <a:xfrm>
            <a:off x="14079593" y="6958568"/>
            <a:ext cx="1759949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Improvement Focus Area (IFA) 'Finishing Stronger' audit 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APR-May 2026</a:t>
            </a:r>
          </a:p>
        </p:txBody>
      </p:sp>
    </p:spTree>
    <p:extLst>
      <p:ext uri="{BB962C8B-B14F-4D97-AF65-F5344CB8AC3E}">
        <p14:creationId xmlns:p14="http://schemas.microsoft.com/office/powerpoint/2010/main" val="333475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0112-4E7E-4B2A-7FFB-FC7DEAA4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CF837-7A0A-0D1F-5FEE-7601E026315C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Finishing Stronger 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F84D9-58B6-5468-3879-56154EEF56DE}"/>
              </a:ext>
            </a:extLst>
          </p:cNvPr>
          <p:cNvSpPr/>
          <p:nvPr/>
        </p:nvSpPr>
        <p:spPr>
          <a:xfrm>
            <a:off x="7303058" y="1132953"/>
            <a:ext cx="284733" cy="2287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17C36-CEC7-9EE2-2DB1-D4E7C970D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06" r="62513" b="-7407"/>
          <a:stretch>
            <a:fillRect/>
          </a:stretch>
        </p:blipFill>
        <p:spPr>
          <a:xfrm>
            <a:off x="7479766" y="467109"/>
            <a:ext cx="7767985" cy="17321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1C767-1801-3840-F56A-3749DCC3A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46" y="1943826"/>
            <a:ext cx="11914498" cy="66136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E4435B-4A3B-7262-F545-0A0492A88E2B}"/>
              </a:ext>
            </a:extLst>
          </p:cNvPr>
          <p:cNvSpPr txBox="1"/>
          <p:nvPr/>
        </p:nvSpPr>
        <p:spPr>
          <a:xfrm>
            <a:off x="14079593" y="6958568"/>
            <a:ext cx="1759949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Improvement Focus Area (IFA) 'Finishing Stronger' audit </a:t>
            </a:r>
          </a:p>
          <a:p>
            <a:pPr algn="ctr"/>
            <a:endParaRPr lang="en-US" b="1">
              <a:ea typeface="Calibri"/>
              <a:cs typeface="Calibri"/>
            </a:endParaRPr>
          </a:p>
          <a:p>
            <a:pPr algn="ctr"/>
            <a:r>
              <a:rPr lang="en-US" b="1">
                <a:ea typeface="Calibri"/>
                <a:cs typeface="Calibri"/>
              </a:rPr>
              <a:t>APR-May 2026</a:t>
            </a:r>
          </a:p>
        </p:txBody>
      </p:sp>
    </p:spTree>
    <p:extLst>
      <p:ext uri="{BB962C8B-B14F-4D97-AF65-F5344CB8AC3E}">
        <p14:creationId xmlns:p14="http://schemas.microsoft.com/office/powerpoint/2010/main" val="266042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902A-5676-FB06-CE74-82F1BFBA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250FA-FC33-A54D-F529-5A1ECC9A39AE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Finishing Stronger – Hi Tech and Digital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BF271-EC3F-DEFC-ED3B-104B4FEF2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" b="79572"/>
          <a:stretch>
            <a:fillRect/>
          </a:stretch>
        </p:blipFill>
        <p:spPr>
          <a:xfrm>
            <a:off x="1453373" y="2060674"/>
            <a:ext cx="13452769" cy="1116283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2B226E6-7C78-EC50-9E0B-4B1973D1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 t="20041" r="-7" b="40653"/>
          <a:stretch>
            <a:fillRect/>
          </a:stretch>
        </p:blipFill>
        <p:spPr>
          <a:xfrm>
            <a:off x="1452565" y="3167189"/>
            <a:ext cx="13454654" cy="2147878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C54D781-D248-0C8E-36AC-5D55615E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" t="58861" r="-105" b="-377"/>
          <a:stretch>
            <a:fillRect/>
          </a:stretch>
        </p:blipFill>
        <p:spPr>
          <a:xfrm>
            <a:off x="1594482" y="5238912"/>
            <a:ext cx="13453779" cy="2268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88FDAF-FE53-000C-F060-66A10802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8" t="1058" r="1099"/>
          <a:stretch>
            <a:fillRect/>
          </a:stretch>
        </p:blipFill>
        <p:spPr>
          <a:xfrm>
            <a:off x="1457585" y="4240807"/>
            <a:ext cx="3103027" cy="32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1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14A2-0FD6-5785-5C75-91549DA9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26C2C-B803-2207-EFB0-AC7F315C9A4A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Finishing Stronger </a:t>
            </a:r>
            <a:r>
              <a:rPr lang="en-GB" sz="6600" b="1" spc="-150">
                <a:solidFill>
                  <a:srgbClr val="394A59"/>
                </a:solidFill>
                <a:latin typeface="+mj-lt"/>
                <a:cs typeface="Calibri"/>
              </a:rPr>
              <a:t>– Hi Tech and Digital</a:t>
            </a:r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 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FF157-E6FB-D618-7257-275B52BC8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" b="5907"/>
          <a:stretch>
            <a:fillRect/>
          </a:stretch>
        </p:blipFill>
        <p:spPr>
          <a:xfrm>
            <a:off x="7337576" y="2035245"/>
            <a:ext cx="5442968" cy="3387002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7C6CC-5BA3-8F0D-5141-B2065180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64" y="2629021"/>
            <a:ext cx="6633633" cy="2627488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DA02CA-5DDE-0159-4B69-CD9F1833F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12" y="6017872"/>
            <a:ext cx="6155266" cy="2636308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515368-EB29-4C53-C76A-8E507E19A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814" y="5755045"/>
            <a:ext cx="6420555" cy="2906890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19A25-6E9E-79BE-06A4-170401B641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27" r="8791" b="1266"/>
          <a:stretch>
            <a:fillRect/>
          </a:stretch>
        </p:blipFill>
        <p:spPr>
          <a:xfrm>
            <a:off x="12568688" y="3197944"/>
            <a:ext cx="3273524" cy="3308252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521235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F5D59C-5A85-2725-44AD-78F33844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3FCE3-3707-D173-7E65-AB2AFB1DB45F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 dirty="0">
                <a:solidFill>
                  <a:srgbClr val="394A59"/>
                </a:solidFill>
                <a:latin typeface="+mj-lt"/>
                <a:cs typeface="AL BAYAN PLAIN"/>
              </a:rPr>
              <a:t>Finishing Stronger – Whole College </a:t>
            </a:r>
            <a:r>
              <a:rPr lang="en-GB" sz="6600" b="1" spc="-150" dirty="0">
                <a:solidFill>
                  <a:srgbClr val="394A59"/>
                </a:solidFill>
                <a:latin typeface="+mj-lt"/>
                <a:cs typeface="AL BAYAN PLAIN"/>
                <a:sym typeface="Wingdings" pitchFamily="2" charset="2"/>
              </a:rPr>
              <a:t></a:t>
            </a:r>
            <a:endParaRPr lang="en-GB" sz="4800" spc="-150" dirty="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</p:spTree>
    <p:extLst>
      <p:ext uri="{BB962C8B-B14F-4D97-AF65-F5344CB8AC3E}">
        <p14:creationId xmlns:p14="http://schemas.microsoft.com/office/powerpoint/2010/main" val="227406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7CC82FCC-9B23-97F1-0C82-20BDD59017D5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8D4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45EBE-A623-71CC-FED6-2C05C32428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6467"/>
          <a:stretch>
            <a:fillRect/>
          </a:stretch>
        </p:blipFill>
        <p:spPr>
          <a:xfrm>
            <a:off x="0" y="152400"/>
            <a:ext cx="8296409" cy="1093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A1595-37B7-B18A-C5E1-A4F15F39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00" y="555203"/>
            <a:ext cx="8033593" cy="803359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F35E84F-6736-D475-72B3-6C3C1466FB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634" b="4622"/>
          <a:stretch>
            <a:fillRect/>
          </a:stretch>
        </p:blipFill>
        <p:spPr>
          <a:xfrm>
            <a:off x="513182" y="4333382"/>
            <a:ext cx="7270044" cy="1570311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A3E39-2FD1-337A-3BFC-2D25612A5DF9}"/>
              </a:ext>
            </a:extLst>
          </p:cNvPr>
          <p:cNvSpPr txBox="1"/>
          <p:nvPr/>
        </p:nvSpPr>
        <p:spPr>
          <a:xfrm>
            <a:off x="736600" y="587454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 spc="-150">
                <a:solidFill>
                  <a:srgbClr val="394A59"/>
                </a:solidFill>
                <a:latin typeface="+mj-lt"/>
                <a:cs typeface="AL BAYAN PLAIN"/>
              </a:rPr>
              <a:t>Additional Reading…</a:t>
            </a:r>
            <a:endParaRPr lang="en-GB" sz="4800" spc="-150">
              <a:solidFill>
                <a:srgbClr val="394A59"/>
              </a:solidFill>
              <a:latin typeface="+mj-lt"/>
              <a:ea typeface="Calibri"/>
              <a:cs typeface="Al Bayan Plai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7764B-93B8-E71D-4DBB-619824EAE74C}"/>
              </a:ext>
            </a:extLst>
          </p:cNvPr>
          <p:cNvSpPr txBox="1"/>
          <p:nvPr/>
        </p:nvSpPr>
        <p:spPr>
          <a:xfrm>
            <a:off x="924791" y="2482381"/>
            <a:ext cx="135601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Kalyuga</a:t>
            </a:r>
            <a:r>
              <a:rPr lang="en-GB" sz="3600" dirty="0"/>
              <a:t>, S., Ayres, P., Chandler, P. and </a:t>
            </a:r>
            <a:r>
              <a:rPr lang="en-GB" sz="3600" dirty="0" err="1"/>
              <a:t>Sweller</a:t>
            </a:r>
            <a:r>
              <a:rPr lang="en-GB" sz="3600" dirty="0"/>
              <a:t>, J. (2003) 'The expertise reversal effect', </a:t>
            </a:r>
            <a:r>
              <a:rPr lang="en-GB" sz="3600" i="1" dirty="0"/>
              <a:t>Educational Psychologist</a:t>
            </a:r>
            <a:r>
              <a:rPr lang="en-GB" sz="3600" dirty="0"/>
              <a:t>, 38(1), pp. 23–31.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E30B1-5F92-3DD1-7502-D01CB3FF2AA6}"/>
              </a:ext>
            </a:extLst>
          </p:cNvPr>
          <p:cNvSpPr txBox="1"/>
          <p:nvPr/>
        </p:nvSpPr>
        <p:spPr>
          <a:xfrm>
            <a:off x="924790" y="4273433"/>
            <a:ext cx="1356013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>
                <a:solidFill>
                  <a:schemeClr val="tx1"/>
                </a:solidFill>
                <a:effectLst/>
                <a:latin typeface="+mn-lt"/>
              </a:rPr>
              <a:t>Banerjee, A., Banerji, R., Berry, J., Duflo, E., Kannan, H., Mukherji, S., ... &amp; Walton, M. (2016). </a:t>
            </a:r>
            <a:r>
              <a:rPr lang="en-GB" sz="3200" b="0" i="1">
                <a:solidFill>
                  <a:schemeClr val="tx1"/>
                </a:solidFill>
                <a:effectLst/>
                <a:latin typeface="+mn-lt"/>
              </a:rPr>
              <a:t>Mainstreaming an effective intervention: Evidence from randomized evaluations of “Teaching at the Right Level” in India</a:t>
            </a:r>
            <a:r>
              <a:rPr lang="en-GB" sz="3200" b="0" i="0">
                <a:solidFill>
                  <a:schemeClr val="tx1"/>
                </a:solidFill>
                <a:effectLst/>
                <a:latin typeface="+mn-lt"/>
              </a:rPr>
              <a:t> (No. w22746). National Bureau of Economic Research.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1978399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87AF-A337-D420-A3F8-031E83BD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81E4AF-1F51-9B94-047F-DC47CDECC658}"/>
              </a:ext>
            </a:extLst>
          </p:cNvPr>
          <p:cNvSpPr txBox="1"/>
          <p:nvPr/>
        </p:nvSpPr>
        <p:spPr>
          <a:xfrm>
            <a:off x="1041400" y="152399"/>
            <a:ext cx="1417320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6600" b="1">
                <a:solidFill>
                  <a:srgbClr val="060A0E"/>
                </a:solidFill>
                <a:latin typeface="+mj-lt"/>
                <a:cs typeface="AL BAYAN PLAIN"/>
              </a:rPr>
              <a:t>Starting Strong – Why?  </a:t>
            </a:r>
            <a:endParaRPr lang="en-GB" sz="6600" b="1">
              <a:solidFill>
                <a:srgbClr val="575A5F"/>
              </a:solidFill>
              <a:cs typeface="Al Bayan Plai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4AF7D22-D893-0810-50DA-DE2DDE526EE6}"/>
              </a:ext>
            </a:extLst>
          </p:cNvPr>
          <p:cNvSpPr/>
          <p:nvPr/>
        </p:nvSpPr>
        <p:spPr>
          <a:xfrm>
            <a:off x="-22400" y="8991600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AFA63-C2B2-CFCE-8BEF-C00F75D2B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" t="3562" r="1949" b="20195"/>
          <a:stretch>
            <a:fillRect/>
          </a:stretch>
        </p:blipFill>
        <p:spPr>
          <a:xfrm>
            <a:off x="281354" y="328253"/>
            <a:ext cx="15779261" cy="70264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E9FEBF-12D6-4F46-14B5-29C96F08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5" t="16391" r="86589" b="69421"/>
          <a:stretch>
            <a:fillRect/>
          </a:stretch>
        </p:blipFill>
        <p:spPr>
          <a:xfrm>
            <a:off x="281354" y="6246731"/>
            <a:ext cx="15583507" cy="11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57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B75FC-329E-5DFD-95EB-75D4F0B6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524982-3264-90DB-E20D-67284371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46980D-D4C1-59AD-60A8-0179E8F85C3F}"/>
              </a:ext>
            </a:extLst>
          </p:cNvPr>
          <p:cNvSpPr/>
          <p:nvPr/>
        </p:nvSpPr>
        <p:spPr>
          <a:xfrm>
            <a:off x="844062" y="2579077"/>
            <a:ext cx="2461846" cy="1031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/>
              <a:t>Supporting novices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CEAE2-DF05-F81C-E8B1-0F546FAFA965}"/>
              </a:ext>
            </a:extLst>
          </p:cNvPr>
          <p:cNvSpPr/>
          <p:nvPr/>
        </p:nvSpPr>
        <p:spPr>
          <a:xfrm>
            <a:off x="14138031" y="2579077"/>
            <a:ext cx="1946031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/>
              <a:t>Impairing ‘experts’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08A7F-EBB5-6817-2217-E8D0C933615A}"/>
              </a:ext>
            </a:extLst>
          </p:cNvPr>
          <p:cNvSpPr/>
          <p:nvPr/>
        </p:nvSpPr>
        <p:spPr>
          <a:xfrm>
            <a:off x="1922585" y="6529754"/>
            <a:ext cx="8487507" cy="1793631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529EE-B5BF-BDDA-86DA-B8367AA6D07F}"/>
              </a:ext>
            </a:extLst>
          </p:cNvPr>
          <p:cNvSpPr/>
          <p:nvPr/>
        </p:nvSpPr>
        <p:spPr>
          <a:xfrm>
            <a:off x="10410092" y="6500171"/>
            <a:ext cx="5429738" cy="1793631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923A310-286E-D621-F4FD-F3D76CA4005E}"/>
              </a:ext>
            </a:extLst>
          </p:cNvPr>
          <p:cNvSpPr/>
          <p:nvPr/>
        </p:nvSpPr>
        <p:spPr>
          <a:xfrm>
            <a:off x="0" y="8487506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4C8BC-74BF-049D-E036-18D23FD321C4}"/>
              </a:ext>
            </a:extLst>
          </p:cNvPr>
          <p:cNvSpPr/>
          <p:nvPr/>
        </p:nvSpPr>
        <p:spPr>
          <a:xfrm>
            <a:off x="937846" y="8610200"/>
            <a:ext cx="398584" cy="47491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4EBD4-B48E-831C-8DA9-CAB60AB1C748}"/>
              </a:ext>
            </a:extLst>
          </p:cNvPr>
          <p:cNvSpPr/>
          <p:nvPr/>
        </p:nvSpPr>
        <p:spPr>
          <a:xfrm>
            <a:off x="13242191" y="8610200"/>
            <a:ext cx="398584" cy="47491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0CC9B7-3E9A-EDEF-CDD0-ABF3A87222CE}"/>
              </a:ext>
            </a:extLst>
          </p:cNvPr>
          <p:cNvSpPr/>
          <p:nvPr/>
        </p:nvSpPr>
        <p:spPr>
          <a:xfrm>
            <a:off x="4695092" y="164397"/>
            <a:ext cx="685799" cy="87309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E1B40-0F62-9AA3-B6DC-B53A96E82E89}"/>
              </a:ext>
            </a:extLst>
          </p:cNvPr>
          <p:cNvSpPr txBox="1"/>
          <p:nvPr/>
        </p:nvSpPr>
        <p:spPr>
          <a:xfrm>
            <a:off x="4717174" y="267842"/>
            <a:ext cx="893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26133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94F4C-F644-CBD6-828C-84D6EB4A1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980D06-1E73-8DC4-7C04-C2A83C5024BC}"/>
              </a:ext>
            </a:extLst>
          </p:cNvPr>
          <p:cNvSpPr/>
          <p:nvPr/>
        </p:nvSpPr>
        <p:spPr>
          <a:xfrm>
            <a:off x="844062" y="2579077"/>
            <a:ext cx="2461846" cy="1031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/>
              <a:t>Supporting novices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9F16B-4007-BDA3-9BFF-2D3EA14B7040}"/>
              </a:ext>
            </a:extLst>
          </p:cNvPr>
          <p:cNvSpPr/>
          <p:nvPr/>
        </p:nvSpPr>
        <p:spPr>
          <a:xfrm>
            <a:off x="14138031" y="2579077"/>
            <a:ext cx="1946031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/>
              <a:t>Impairing ‘experts’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E146350-273B-9CC7-382A-89C8AA8D4DCA}"/>
              </a:ext>
            </a:extLst>
          </p:cNvPr>
          <p:cNvSpPr/>
          <p:nvPr/>
        </p:nvSpPr>
        <p:spPr>
          <a:xfrm>
            <a:off x="0" y="8487506"/>
            <a:ext cx="16380000" cy="0"/>
          </a:xfrm>
          <a:custGeom>
            <a:avLst/>
            <a:gdLst>
              <a:gd name="csX0" fmla="*/ 0 w 16207337"/>
              <a:gd name="csY0" fmla="*/ 0 h 10307"/>
              <a:gd name="csX1" fmla="*/ 16207337 w 16207337"/>
              <a:gd name="csY1" fmla="*/ 10307 h 10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207337" h="10307">
                <a:moveTo>
                  <a:pt x="0" y="0"/>
                </a:moveTo>
                <a:lnTo>
                  <a:pt x="16207337" y="10307"/>
                </a:lnTo>
              </a:path>
            </a:pathLst>
          </a:custGeom>
          <a:noFill/>
          <a:ln w="152400">
            <a:solidFill>
              <a:srgbClr val="794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D43D7-B588-C641-AEDC-E6783752CD49}"/>
              </a:ext>
            </a:extLst>
          </p:cNvPr>
          <p:cNvSpPr/>
          <p:nvPr/>
        </p:nvSpPr>
        <p:spPr>
          <a:xfrm>
            <a:off x="937846" y="8610200"/>
            <a:ext cx="398584" cy="47491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9B0D1-D6FA-82E6-11A9-76EA0957FBA4}"/>
              </a:ext>
            </a:extLst>
          </p:cNvPr>
          <p:cNvSpPr/>
          <p:nvPr/>
        </p:nvSpPr>
        <p:spPr>
          <a:xfrm>
            <a:off x="13242191" y="8610200"/>
            <a:ext cx="398584" cy="47491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20493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9701E-EDFD-481C-0E3C-737A504D0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2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Macintosh PowerPoint</Application>
  <PresentationFormat>Custom</PresentationFormat>
  <Paragraphs>102</Paragraphs>
  <Slides>30</Slides>
  <Notes>12</Notes>
  <HiddenSlides>4</HiddenSlides>
  <MMClips>3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Al Bayan</vt:lpstr>
      <vt:lpstr>Al Bayan Plain</vt:lpstr>
      <vt:lpstr>Al Bayan Plain</vt:lpstr>
      <vt:lpstr>Aptos</vt:lpstr>
      <vt:lpstr>Arial</vt:lpstr>
      <vt:lpstr>Arial,Sans-Serif</vt:lpstr>
      <vt:lpstr>Calibri</vt:lpstr>
      <vt:lpstr>inherit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Tagg</cp:lastModifiedBy>
  <cp:revision>2</cp:revision>
  <cp:lastPrinted>2026-09-30T14:52:31Z</cp:lastPrinted>
  <dcterms:created xsi:type="dcterms:W3CDTF">2006-08-16T00:00:00Z</dcterms:created>
  <dcterms:modified xsi:type="dcterms:W3CDTF">2026-10-01T12:39:39Z</dcterms:modified>
</cp:coreProperties>
</file>