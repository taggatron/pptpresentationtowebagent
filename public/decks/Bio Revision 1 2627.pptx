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78" r:id="rId2"/>
    <p:sldId id="285" r:id="rId3"/>
    <p:sldId id="286" r:id="rId4"/>
    <p:sldId id="291" r:id="rId5"/>
    <p:sldId id="290" r:id="rId6"/>
    <p:sldId id="256" r:id="rId7"/>
    <p:sldId id="283" r:id="rId8"/>
    <p:sldId id="279" r:id="rId9"/>
    <p:sldId id="311" r:id="rId10"/>
    <p:sldId id="282" r:id="rId11"/>
    <p:sldId id="312" r:id="rId12"/>
    <p:sldId id="270" r:id="rId13"/>
    <p:sldId id="287" r:id="rId14"/>
    <p:sldId id="275" r:id="rId15"/>
    <p:sldId id="289" r:id="rId16"/>
    <p:sldId id="292" r:id="rId17"/>
    <p:sldId id="293" r:id="rId18"/>
  </p:sldIdLst>
  <p:sldSz cx="9144000" cy="5143500" type="screen16x9"/>
  <p:notesSz cx="6797675" cy="9926638"/>
  <p:embeddedFontLst>
    <p:embeddedFont>
      <p:font typeface="Amatic SC" pitchFamily="2" charset="-79"/>
      <p:regular r:id="rId20"/>
      <p:bold r:id="rId21"/>
    </p:embeddedFont>
    <p:embeddedFont>
      <p:font typeface="Source Code Pro" panose="020B0509030403020204" pitchFamily="49"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FF"/>
    <a:srgbClr val="FFF9B7"/>
    <a:srgbClr val="EDC34E"/>
    <a:srgbClr val="F1CE5B"/>
    <a:srgbClr val="AA7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BE95525-7168-4340-89B2-6C4197B15BE8}">
  <a:tblStyle styleId="{CBE95525-7168-4340-89B2-6C4197B15BE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4D5EECB-6A85-4838-A6F4-0581CA389DF0}"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32"/>
    <p:restoredTop sz="94648"/>
  </p:normalViewPr>
  <p:slideViewPr>
    <p:cSldViewPr snapToGrid="0">
      <p:cViewPr varScale="1">
        <p:scale>
          <a:sx n="142" d="100"/>
          <a:sy n="142" d="100"/>
        </p:scale>
        <p:origin x="176" y="39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79768" y="4715153"/>
            <a:ext cx="5438140" cy="4466987"/>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notes"/>
          <p:cNvSpPr>
            <a:spLocks noGrp="1" noRot="1" noChangeAspect="1"/>
          </p:cNvSpPr>
          <p:nvPr>
            <p:ph type="sldImg" idx="2"/>
          </p:nvPr>
        </p:nvSpPr>
        <p:spPr>
          <a:xfrm>
            <a:off x="990600" y="1311275"/>
            <a:ext cx="11641138" cy="654843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p:notes"/>
          <p:cNvSpPr txBox="1">
            <a:spLocks noGrp="1"/>
          </p:cNvSpPr>
          <p:nvPr>
            <p:ph type="body" idx="1"/>
          </p:nvPr>
        </p:nvSpPr>
        <p:spPr>
          <a:xfrm>
            <a:off x="1362652" y="8295527"/>
            <a:ext cx="10901201" cy="7858917"/>
          </a:xfrm>
          <a:prstGeom prst="rect">
            <a:avLst/>
          </a:prstGeom>
        </p:spPr>
        <p:txBody>
          <a:bodyPr spcFirstLastPara="1" wrap="square" lIns="132722" tIns="132722" rIns="132722" bIns="132722" anchor="t" anchorCtr="0">
            <a:noAutofit/>
          </a:bodyPr>
          <a:lstStyle/>
          <a:p>
            <a:pPr marL="0" indent="0">
              <a:buNone/>
            </a:pPr>
            <a:r>
              <a:rPr lang="en-GB"/>
              <a:t>Google timer</a:t>
            </a:r>
            <a:endParaRPr/>
          </a:p>
        </p:txBody>
      </p:sp>
    </p:spTree>
    <p:extLst>
      <p:ext uri="{BB962C8B-B14F-4D97-AF65-F5344CB8AC3E}">
        <p14:creationId xmlns:p14="http://schemas.microsoft.com/office/powerpoint/2010/main" val="2271571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4dd4711938_0_8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4dd4711938_0_87: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7862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58c8ba53d5_0_13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58c8ba53d5_0_133: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02344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58c8ba53d5_0_13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58c8ba53d5_0_133: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177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4dd4711938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4dd4711938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46392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p: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621146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4dd4711938_0_8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4dd4711938_0_82: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59056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4dd4711938_0_8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4dd4711938_0_82: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87064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7688208d6f_0_0:notes"/>
          <p:cNvSpPr>
            <a:spLocks noGrp="1" noRot="1" noChangeAspect="1"/>
          </p:cNvSpPr>
          <p:nvPr>
            <p:ph type="sldImg" idx="2"/>
          </p:nvPr>
        </p:nvSpPr>
        <p:spPr>
          <a:xfrm>
            <a:off x="-223838" y="808038"/>
            <a:ext cx="7185026" cy="40417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7688208d6f_0_0:notes"/>
          <p:cNvSpPr txBox="1">
            <a:spLocks noGrp="1"/>
          </p:cNvSpPr>
          <p:nvPr>
            <p:ph type="body" idx="1"/>
          </p:nvPr>
        </p:nvSpPr>
        <p:spPr>
          <a:xfrm>
            <a:off x="673788" y="5118725"/>
            <a:ext cx="5390305" cy="48493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18973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58f2d23d7a_0_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58f2d23d7a_0_0: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58f2d23d7a_0_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58f2d23d7a_0_0: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648490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58caa59529_0_1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58caa59529_0_10: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58caa59529_0_1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58caa59529_0_10: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95602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p: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35460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2802750" y="802500"/>
            <a:ext cx="3538500" cy="3538500"/>
          </a:xfrm>
          <a:prstGeom prst="rect">
            <a:avLst/>
          </a:prstGeom>
          <a:solidFill>
            <a:srgbClr val="FFFFFF"/>
          </a:solidFill>
        </p:spPr>
        <p:txBody>
          <a:bodyPr spcFirstLastPara="1" wrap="square" lIns="91425" tIns="91425" rIns="91425" bIns="9142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19" name="Google Shape;19;p4"/>
          <p:cNvSpPr txBox="1">
            <a:spLocks noGrp="1"/>
          </p:cNvSpPr>
          <p:nvPr>
            <p:ph type="body" idx="1"/>
          </p:nvPr>
        </p:nvSpPr>
        <p:spPr>
          <a:xfrm>
            <a:off x="311700" y="1228675"/>
            <a:ext cx="8520600" cy="3340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3" name="Google Shape;23;p5"/>
          <p:cNvSpPr txBox="1">
            <a:spLocks noGrp="1"/>
          </p:cNvSpPr>
          <p:nvPr>
            <p:ph type="body" idx="1"/>
          </p:nvPr>
        </p:nvSpPr>
        <p:spPr>
          <a:xfrm>
            <a:off x="311700" y="1228675"/>
            <a:ext cx="3999900" cy="3340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body" idx="2"/>
          </p:nvPr>
        </p:nvSpPr>
        <p:spPr>
          <a:xfrm>
            <a:off x="4832400" y="1228675"/>
            <a:ext cx="3999900" cy="3340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5" name="Google Shape;2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304800" y="309350"/>
            <a:ext cx="8537700" cy="7482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28" name="Google Shape;28;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a:endParaRPr/>
          </a:p>
        </p:txBody>
      </p:sp>
      <p:sp>
        <p:nvSpPr>
          <p:cNvPr id="31" name="Google Shape;31;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2" name="Google Shape;32;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a:endParaRPr/>
          </a:p>
        </p:txBody>
      </p:sp>
      <p:sp>
        <p:nvSpPr>
          <p:cNvPr id="35" name="Google Shape;35;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8" name="Google Shape;38;p9"/>
          <p:cNvCxnSpPr/>
          <p:nvPr/>
        </p:nvCxnSpPr>
        <p:spPr>
          <a:xfrm>
            <a:off x="5029675" y="4495500"/>
            <a:ext cx="468300" cy="0"/>
          </a:xfrm>
          <a:prstGeom prst="straightConnector1">
            <a:avLst/>
          </a:prstGeom>
          <a:noFill/>
          <a:ln w="28575" cap="flat" cmpd="sng">
            <a:solidFill>
              <a:schemeClr val="lt1"/>
            </a:solidFill>
            <a:prstDash val="solid"/>
            <a:round/>
            <a:headEnd type="none" w="sm" len="sm"/>
            <a:tailEnd type="none" w="sm" len="sm"/>
          </a:ln>
        </p:spPr>
      </p:cxnSp>
      <p:sp>
        <p:nvSpPr>
          <p:cNvPr id="39" name="Google Shape;39;p9"/>
          <p:cNvSpPr txBox="1">
            <a:spLocks noGrp="1"/>
          </p:cNvSpPr>
          <p:nvPr>
            <p:ph type="title"/>
          </p:nvPr>
        </p:nvSpPr>
        <p:spPr>
          <a:xfrm>
            <a:off x="265500" y="1081400"/>
            <a:ext cx="4045200" cy="1710300"/>
          </a:xfrm>
          <a:prstGeom prst="rect">
            <a:avLst/>
          </a:prstGeom>
        </p:spPr>
        <p:txBody>
          <a:bodyPr spcFirstLastPara="1" wrap="square" lIns="91425" tIns="91425" rIns="91425" bIns="91425" anchor="b" anchorCtr="0">
            <a:no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40" name="Google Shape;40;p9"/>
          <p:cNvSpPr txBox="1">
            <a:spLocks noGrp="1"/>
          </p:cNvSpPr>
          <p:nvPr>
            <p:ph type="subTitle" idx="1"/>
          </p:nvPr>
        </p:nvSpPr>
        <p:spPr>
          <a:xfrm>
            <a:off x="265500" y="2845223"/>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41" name="Google Shape;41;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accent1"/>
              </a:buClr>
              <a:buSzPts val="1800"/>
              <a:buChar char="●"/>
              <a:defRPr>
                <a:solidFill>
                  <a:schemeClr val="accent1"/>
                </a:solidFill>
                <a:highlight>
                  <a:schemeClr val="lt1"/>
                </a:highlight>
              </a:defRPr>
            </a:lvl1pPr>
            <a:lvl2pPr marL="914400" lvl="1" indent="-317500">
              <a:spcBef>
                <a:spcPts val="1600"/>
              </a:spcBef>
              <a:spcAft>
                <a:spcPts val="0"/>
              </a:spcAft>
              <a:buClr>
                <a:schemeClr val="accent1"/>
              </a:buClr>
              <a:buSzPts val="1400"/>
              <a:buChar char="○"/>
              <a:defRPr>
                <a:solidFill>
                  <a:schemeClr val="accent1"/>
                </a:solidFill>
                <a:highlight>
                  <a:schemeClr val="lt1"/>
                </a:highlight>
              </a:defRPr>
            </a:lvl2pPr>
            <a:lvl3pPr marL="1371600" lvl="2" indent="-317500">
              <a:spcBef>
                <a:spcPts val="1600"/>
              </a:spcBef>
              <a:spcAft>
                <a:spcPts val="0"/>
              </a:spcAft>
              <a:buClr>
                <a:schemeClr val="accent1"/>
              </a:buClr>
              <a:buSzPts val="1400"/>
              <a:buChar char="■"/>
              <a:defRPr>
                <a:solidFill>
                  <a:schemeClr val="accent1"/>
                </a:solidFill>
                <a:highlight>
                  <a:schemeClr val="lt1"/>
                </a:highlight>
              </a:defRPr>
            </a:lvl3pPr>
            <a:lvl4pPr marL="1828800" lvl="3" indent="-317500">
              <a:spcBef>
                <a:spcPts val="1600"/>
              </a:spcBef>
              <a:spcAft>
                <a:spcPts val="0"/>
              </a:spcAft>
              <a:buClr>
                <a:schemeClr val="accent1"/>
              </a:buClr>
              <a:buSzPts val="1400"/>
              <a:buChar char="●"/>
              <a:defRPr>
                <a:solidFill>
                  <a:schemeClr val="accent1"/>
                </a:solidFill>
                <a:highlight>
                  <a:schemeClr val="lt1"/>
                </a:highlight>
              </a:defRPr>
            </a:lvl4pPr>
            <a:lvl5pPr marL="2286000" lvl="4" indent="-317500">
              <a:spcBef>
                <a:spcPts val="1600"/>
              </a:spcBef>
              <a:spcAft>
                <a:spcPts val="0"/>
              </a:spcAft>
              <a:buClr>
                <a:schemeClr val="accent1"/>
              </a:buClr>
              <a:buSzPts val="1400"/>
              <a:buChar char="○"/>
              <a:defRPr>
                <a:solidFill>
                  <a:schemeClr val="accent1"/>
                </a:solidFill>
                <a:highlight>
                  <a:schemeClr val="lt1"/>
                </a:highlight>
              </a:defRPr>
            </a:lvl5pPr>
            <a:lvl6pPr marL="2743200" lvl="5" indent="-317500">
              <a:spcBef>
                <a:spcPts val="1600"/>
              </a:spcBef>
              <a:spcAft>
                <a:spcPts val="0"/>
              </a:spcAft>
              <a:buClr>
                <a:schemeClr val="accent1"/>
              </a:buClr>
              <a:buSzPts val="1400"/>
              <a:buChar char="■"/>
              <a:defRPr>
                <a:solidFill>
                  <a:schemeClr val="accent1"/>
                </a:solidFill>
                <a:highlight>
                  <a:schemeClr val="lt1"/>
                </a:highlight>
              </a:defRPr>
            </a:lvl6pPr>
            <a:lvl7pPr marL="3200400" lvl="6" indent="-317500">
              <a:spcBef>
                <a:spcPts val="1600"/>
              </a:spcBef>
              <a:spcAft>
                <a:spcPts val="0"/>
              </a:spcAft>
              <a:buClr>
                <a:schemeClr val="accent1"/>
              </a:buClr>
              <a:buSzPts val="1400"/>
              <a:buChar char="●"/>
              <a:defRPr>
                <a:solidFill>
                  <a:schemeClr val="accent1"/>
                </a:solidFill>
                <a:highlight>
                  <a:schemeClr val="lt1"/>
                </a:highlight>
              </a:defRPr>
            </a:lvl7pPr>
            <a:lvl8pPr marL="3657600" lvl="7" indent="-317500">
              <a:spcBef>
                <a:spcPts val="1600"/>
              </a:spcBef>
              <a:spcAft>
                <a:spcPts val="0"/>
              </a:spcAft>
              <a:buClr>
                <a:schemeClr val="accent1"/>
              </a:buClr>
              <a:buSzPts val="1400"/>
              <a:buChar char="○"/>
              <a:defRPr>
                <a:solidFill>
                  <a:schemeClr val="accent1"/>
                </a:solidFill>
                <a:highlight>
                  <a:schemeClr val="lt1"/>
                </a:highlight>
              </a:defRPr>
            </a:lvl8pPr>
            <a:lvl9pPr marL="4114800" lvl="8" indent="-317500">
              <a:spcBef>
                <a:spcPts val="1600"/>
              </a:spcBef>
              <a:spcAft>
                <a:spcPts val="1600"/>
              </a:spcAft>
              <a:buClr>
                <a:schemeClr val="accent1"/>
              </a:buClr>
              <a:buSzPts val="1400"/>
              <a:buChar char="■"/>
              <a:defRPr>
                <a:solidFill>
                  <a:schemeClr val="accent1"/>
                </a:solidFill>
                <a:highlight>
                  <a:schemeClr val="lt1"/>
                </a:highlight>
              </a:defRPr>
            </a:lvl9pPr>
          </a:lstStyle>
          <a:p>
            <a:endParaRPr/>
          </a:p>
        </p:txBody>
      </p:sp>
      <p:sp>
        <p:nvSpPr>
          <p:cNvPr id="42" name="Google Shape;42;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accent1"/>
              </a:buClr>
              <a:buSzPts val="2400"/>
              <a:buFont typeface="Amatic SC"/>
              <a:buNone/>
              <a:defRPr sz="2400" b="1">
                <a:solidFill>
                  <a:schemeClr val="accent1"/>
                </a:solidFill>
                <a:latin typeface="Amatic SC"/>
                <a:ea typeface="Amatic SC"/>
                <a:cs typeface="Amatic SC"/>
                <a:sym typeface="Amatic SC"/>
              </a:defRPr>
            </a:lvl1pPr>
          </a:lstStyle>
          <a:p>
            <a:endParaRPr/>
          </a:p>
        </p:txBody>
      </p:sp>
      <p:sp>
        <p:nvSpPr>
          <p:cNvPr id="45" name="Google Shape;45;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1"/>
          <p:cNvSpPr txBox="1">
            <a:spLocks noGrp="1"/>
          </p:cNvSpPr>
          <p:nvPr>
            <p:ph type="title" hasCustomPrompt="1"/>
          </p:nvPr>
        </p:nvSpPr>
        <p:spPr>
          <a:xfrm>
            <a:off x="311700" y="1240275"/>
            <a:ext cx="8520600" cy="1981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a:spLocks noGrp="1"/>
          </p:cNvSpPr>
          <p:nvPr>
            <p:ph type="body" idx="1"/>
          </p:nvPr>
        </p:nvSpPr>
        <p:spPr>
          <a:xfrm>
            <a:off x="311700" y="33046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Clr>
                <a:schemeClr val="accent1"/>
              </a:buClr>
              <a:buSzPts val="1800"/>
              <a:buChar char="●"/>
              <a:defRPr>
                <a:solidFill>
                  <a:schemeClr val="accent1"/>
                </a:solidFill>
                <a:highlight>
                  <a:schemeClr val="dk1"/>
                </a:highlight>
              </a:defRPr>
            </a:lvl1pPr>
            <a:lvl2pPr marL="914400" lvl="1" indent="-317500" algn="ctr">
              <a:spcBef>
                <a:spcPts val="1600"/>
              </a:spcBef>
              <a:spcAft>
                <a:spcPts val="0"/>
              </a:spcAft>
              <a:buClr>
                <a:schemeClr val="accent1"/>
              </a:buClr>
              <a:buSzPts val="1400"/>
              <a:buChar char="○"/>
              <a:defRPr>
                <a:solidFill>
                  <a:schemeClr val="accent1"/>
                </a:solidFill>
                <a:highlight>
                  <a:schemeClr val="dk1"/>
                </a:highlight>
              </a:defRPr>
            </a:lvl2pPr>
            <a:lvl3pPr marL="1371600" lvl="2" indent="-317500" algn="ctr">
              <a:spcBef>
                <a:spcPts val="1600"/>
              </a:spcBef>
              <a:spcAft>
                <a:spcPts val="0"/>
              </a:spcAft>
              <a:buClr>
                <a:schemeClr val="accent1"/>
              </a:buClr>
              <a:buSzPts val="1400"/>
              <a:buChar char="■"/>
              <a:defRPr>
                <a:solidFill>
                  <a:schemeClr val="accent1"/>
                </a:solidFill>
                <a:highlight>
                  <a:schemeClr val="dk1"/>
                </a:highlight>
              </a:defRPr>
            </a:lvl3pPr>
            <a:lvl4pPr marL="1828800" lvl="3" indent="-317500" algn="ctr">
              <a:spcBef>
                <a:spcPts val="1600"/>
              </a:spcBef>
              <a:spcAft>
                <a:spcPts val="0"/>
              </a:spcAft>
              <a:buClr>
                <a:schemeClr val="accent1"/>
              </a:buClr>
              <a:buSzPts val="1400"/>
              <a:buChar char="●"/>
              <a:defRPr>
                <a:solidFill>
                  <a:schemeClr val="accent1"/>
                </a:solidFill>
                <a:highlight>
                  <a:schemeClr val="dk1"/>
                </a:highlight>
              </a:defRPr>
            </a:lvl4pPr>
            <a:lvl5pPr marL="2286000" lvl="4" indent="-317500" algn="ctr">
              <a:spcBef>
                <a:spcPts val="1600"/>
              </a:spcBef>
              <a:spcAft>
                <a:spcPts val="0"/>
              </a:spcAft>
              <a:buClr>
                <a:schemeClr val="accent1"/>
              </a:buClr>
              <a:buSzPts val="1400"/>
              <a:buChar char="○"/>
              <a:defRPr>
                <a:solidFill>
                  <a:schemeClr val="accent1"/>
                </a:solidFill>
                <a:highlight>
                  <a:schemeClr val="dk1"/>
                </a:highlight>
              </a:defRPr>
            </a:lvl5pPr>
            <a:lvl6pPr marL="2743200" lvl="5" indent="-317500" algn="ctr">
              <a:spcBef>
                <a:spcPts val="1600"/>
              </a:spcBef>
              <a:spcAft>
                <a:spcPts val="0"/>
              </a:spcAft>
              <a:buClr>
                <a:schemeClr val="accent1"/>
              </a:buClr>
              <a:buSzPts val="1400"/>
              <a:buChar char="■"/>
              <a:defRPr>
                <a:solidFill>
                  <a:schemeClr val="accent1"/>
                </a:solidFill>
                <a:highlight>
                  <a:schemeClr val="dk1"/>
                </a:highlight>
              </a:defRPr>
            </a:lvl6pPr>
            <a:lvl7pPr marL="3200400" lvl="6" indent="-317500" algn="ctr">
              <a:spcBef>
                <a:spcPts val="1600"/>
              </a:spcBef>
              <a:spcAft>
                <a:spcPts val="0"/>
              </a:spcAft>
              <a:buClr>
                <a:schemeClr val="accent1"/>
              </a:buClr>
              <a:buSzPts val="1400"/>
              <a:buChar char="●"/>
              <a:defRPr>
                <a:solidFill>
                  <a:schemeClr val="accent1"/>
                </a:solidFill>
                <a:highlight>
                  <a:schemeClr val="dk1"/>
                </a:highlight>
              </a:defRPr>
            </a:lvl7pPr>
            <a:lvl8pPr marL="3657600" lvl="7" indent="-317500" algn="ctr">
              <a:spcBef>
                <a:spcPts val="1600"/>
              </a:spcBef>
              <a:spcAft>
                <a:spcPts val="0"/>
              </a:spcAft>
              <a:buClr>
                <a:schemeClr val="accent1"/>
              </a:buClr>
              <a:buSzPts val="1400"/>
              <a:buChar char="○"/>
              <a:defRPr>
                <a:solidFill>
                  <a:schemeClr val="accent1"/>
                </a:solidFill>
                <a:highlight>
                  <a:schemeClr val="dk1"/>
                </a:highlight>
              </a:defRPr>
            </a:lvl8pPr>
            <a:lvl9pPr marL="4114800" lvl="8" indent="-317500" algn="ctr">
              <a:spcBef>
                <a:spcPts val="1600"/>
              </a:spcBef>
              <a:spcAft>
                <a:spcPts val="1600"/>
              </a:spcAft>
              <a:buClr>
                <a:schemeClr val="accent1"/>
              </a:buClr>
              <a:buSzPts val="1400"/>
              <a:buChar char="■"/>
              <a:defRPr>
                <a:solidFill>
                  <a:schemeClr val="accent1"/>
                </a:solidFill>
                <a:highlight>
                  <a:schemeClr val="dk1"/>
                </a:highlight>
              </a:defRPr>
            </a:lvl9pPr>
          </a:lstStyle>
          <a:p>
            <a:endParaRPr/>
          </a:p>
        </p:txBody>
      </p:sp>
      <p:sp>
        <p:nvSpPr>
          <p:cNvPr id="49" name="Google Shape;4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311700" y="392150"/>
            <a:ext cx="8520600" cy="2690400"/>
          </a:xfrm>
          <a:prstGeom prst="rect">
            <a:avLst/>
          </a:prstGeom>
        </p:spPr>
        <p:txBody>
          <a:bodyPr spcFirstLastPara="1" wrap="square" lIns="91425" tIns="91425" rIns="91425" bIns="91425" anchor="ctr" anchorCtr="0">
            <a:no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endParaRPr/>
          </a:p>
        </p:txBody>
      </p:sp>
      <p:sp>
        <p:nvSpPr>
          <p:cNvPr id="12" name="Google Shape;12;p2"/>
          <p:cNvSpPr txBox="1">
            <a:spLocks noGrp="1"/>
          </p:cNvSpPr>
          <p:nvPr>
            <p:ph type="subTitle" idx="1"/>
          </p:nvPr>
        </p:nvSpPr>
        <p:spPr>
          <a:xfrm>
            <a:off x="311700" y="3890400"/>
            <a:ext cx="8520600" cy="7062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Clr>
                <a:schemeClr val="accent1"/>
              </a:buClr>
              <a:buSzPts val="2100"/>
              <a:buNone/>
              <a:defRPr sz="2100" b="1">
                <a:solidFill>
                  <a:schemeClr val="accent1"/>
                </a:solidFill>
              </a:defRPr>
            </a:lvl1pPr>
            <a:lvl2pPr lvl="1" algn="ctr">
              <a:lnSpc>
                <a:spcPct val="100000"/>
              </a:lnSpc>
              <a:spcBef>
                <a:spcPts val="0"/>
              </a:spcBef>
              <a:spcAft>
                <a:spcPts val="0"/>
              </a:spcAft>
              <a:buClr>
                <a:schemeClr val="accent1"/>
              </a:buClr>
              <a:buSzPts val="2100"/>
              <a:buNone/>
              <a:defRPr sz="2100" b="1">
                <a:solidFill>
                  <a:schemeClr val="accent1"/>
                </a:solidFill>
              </a:defRPr>
            </a:lvl2pPr>
            <a:lvl3pPr lvl="2" algn="ctr">
              <a:lnSpc>
                <a:spcPct val="100000"/>
              </a:lnSpc>
              <a:spcBef>
                <a:spcPts val="0"/>
              </a:spcBef>
              <a:spcAft>
                <a:spcPts val="0"/>
              </a:spcAft>
              <a:buClr>
                <a:schemeClr val="accent1"/>
              </a:buClr>
              <a:buSzPts val="2100"/>
              <a:buNone/>
              <a:defRPr sz="2100" b="1">
                <a:solidFill>
                  <a:schemeClr val="accent1"/>
                </a:solidFill>
              </a:defRPr>
            </a:lvl3pPr>
            <a:lvl4pPr lvl="3" algn="ctr">
              <a:lnSpc>
                <a:spcPct val="100000"/>
              </a:lnSpc>
              <a:spcBef>
                <a:spcPts val="0"/>
              </a:spcBef>
              <a:spcAft>
                <a:spcPts val="0"/>
              </a:spcAft>
              <a:buClr>
                <a:schemeClr val="accent1"/>
              </a:buClr>
              <a:buSzPts val="2100"/>
              <a:buNone/>
              <a:defRPr sz="2100" b="1">
                <a:solidFill>
                  <a:schemeClr val="accent1"/>
                </a:solidFill>
              </a:defRPr>
            </a:lvl4pPr>
            <a:lvl5pPr lvl="4" algn="ctr">
              <a:lnSpc>
                <a:spcPct val="100000"/>
              </a:lnSpc>
              <a:spcBef>
                <a:spcPts val="0"/>
              </a:spcBef>
              <a:spcAft>
                <a:spcPts val="0"/>
              </a:spcAft>
              <a:buClr>
                <a:schemeClr val="accent1"/>
              </a:buClr>
              <a:buSzPts val="2100"/>
              <a:buNone/>
              <a:defRPr sz="2100" b="1">
                <a:solidFill>
                  <a:schemeClr val="accent1"/>
                </a:solidFill>
              </a:defRPr>
            </a:lvl5pPr>
            <a:lvl6pPr lvl="5" algn="ctr">
              <a:lnSpc>
                <a:spcPct val="100000"/>
              </a:lnSpc>
              <a:spcBef>
                <a:spcPts val="0"/>
              </a:spcBef>
              <a:spcAft>
                <a:spcPts val="0"/>
              </a:spcAft>
              <a:buClr>
                <a:schemeClr val="accent1"/>
              </a:buClr>
              <a:buSzPts val="2100"/>
              <a:buNone/>
              <a:defRPr sz="2100" b="1">
                <a:solidFill>
                  <a:schemeClr val="accent1"/>
                </a:solidFill>
              </a:defRPr>
            </a:lvl6pPr>
            <a:lvl7pPr lvl="6" algn="ctr">
              <a:lnSpc>
                <a:spcPct val="100000"/>
              </a:lnSpc>
              <a:spcBef>
                <a:spcPts val="0"/>
              </a:spcBef>
              <a:spcAft>
                <a:spcPts val="0"/>
              </a:spcAft>
              <a:buClr>
                <a:schemeClr val="accent1"/>
              </a:buClr>
              <a:buSzPts val="2100"/>
              <a:buNone/>
              <a:defRPr sz="2100" b="1">
                <a:solidFill>
                  <a:schemeClr val="accent1"/>
                </a:solidFill>
              </a:defRPr>
            </a:lvl7pPr>
            <a:lvl8pPr lvl="7" algn="ctr">
              <a:lnSpc>
                <a:spcPct val="100000"/>
              </a:lnSpc>
              <a:spcBef>
                <a:spcPts val="0"/>
              </a:spcBef>
              <a:spcAft>
                <a:spcPts val="0"/>
              </a:spcAft>
              <a:buClr>
                <a:schemeClr val="accent1"/>
              </a:buClr>
              <a:buSzPts val="2100"/>
              <a:buNone/>
              <a:defRPr sz="2100" b="1">
                <a:solidFill>
                  <a:schemeClr val="accent1"/>
                </a:solidFill>
              </a:defRPr>
            </a:lvl8pPr>
            <a:lvl9pPr lvl="8" algn="ctr">
              <a:lnSpc>
                <a:spcPct val="100000"/>
              </a:lnSpc>
              <a:spcBef>
                <a:spcPts val="0"/>
              </a:spcBef>
              <a:spcAft>
                <a:spcPts val="0"/>
              </a:spcAft>
              <a:buClr>
                <a:schemeClr val="accent1"/>
              </a:buClr>
              <a:buSzPts val="2100"/>
              <a:buNone/>
              <a:defRPr sz="2100" b="1">
                <a:solidFill>
                  <a:schemeClr val="accent1"/>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2043967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beach-day">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292850"/>
            <a:ext cx="8520600" cy="8010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9pPr>
          </a:lstStyle>
          <a:p>
            <a:endParaRPr/>
          </a:p>
        </p:txBody>
      </p:sp>
      <p:sp>
        <p:nvSpPr>
          <p:cNvPr id="7" name="Google Shape;7;p1"/>
          <p:cNvSpPr txBox="1">
            <a:spLocks noGrp="1"/>
          </p:cNvSpPr>
          <p:nvPr>
            <p:ph type="body" idx="1"/>
          </p:nvPr>
        </p:nvSpPr>
        <p:spPr>
          <a:xfrm>
            <a:off x="311700" y="1228675"/>
            <a:ext cx="8520600" cy="3340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marL="914400" lvl="1"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marL="1371600" lvl="2"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marL="1828800" lvl="3"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marL="2286000" lvl="4"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marL="2743200" lvl="5"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marL="3200400" lvl="6"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marL="3657600" lvl="7" indent="-3175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marL="4114800" lvl="8" indent="-317500">
              <a:lnSpc>
                <a:spcPct val="115000"/>
              </a:lnSpc>
              <a:spcBef>
                <a:spcPts val="1600"/>
              </a:spcBef>
              <a:spcAft>
                <a:spcPts val="160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en.wikipedia.org/wiki/Luciferin" TargetMode="External"/><Relationship Id="rId2" Type="http://schemas.openxmlformats.org/officeDocument/2006/relationships/hyperlink" Target="https://en.wikipedia.org/wiki/Luciferase" TargetMode="Externa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image" Target="../media/image2.jpeg"/><Relationship Id="rId4" Type="http://schemas.openxmlformats.org/officeDocument/2006/relationships/hyperlink" Target="https://en.wikipedia.org/wiki/Adenosine_triphosphate"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0" y="525844"/>
            <a:ext cx="9144000" cy="801000"/>
          </a:xfrm>
          <a:prstGeom prst="rect">
            <a:avLst/>
          </a:prstGeom>
        </p:spPr>
        <p:txBody>
          <a:bodyPr spcFirstLastPara="1" wrap="square" lIns="91425" tIns="91425" rIns="91425" bIns="91425" anchor="ctr" anchorCtr="0">
            <a:noAutofit/>
          </a:bodyPr>
          <a:lstStyle/>
          <a:p>
            <a:pPr algn="ctr"/>
            <a:r>
              <a:rPr lang="en-GB" sz="3600" u="sng">
                <a:solidFill>
                  <a:srgbClr val="FF0000"/>
                </a:solidFill>
              </a:rPr>
              <a:t>B1 revision– </a:t>
            </a:r>
            <a:r>
              <a:rPr lang="en-GB" sz="3600" u="sng"/>
              <a:t>How can we best prepare for out first assessment?</a:t>
            </a:r>
            <a:endParaRPr sz="3600" u="sng"/>
          </a:p>
        </p:txBody>
      </p:sp>
      <p:sp>
        <p:nvSpPr>
          <p:cNvPr id="57" name="Google Shape;57;p13"/>
          <p:cNvSpPr txBox="1">
            <a:spLocks noGrp="1"/>
          </p:cNvSpPr>
          <p:nvPr>
            <p:ph type="body" idx="1"/>
          </p:nvPr>
        </p:nvSpPr>
        <p:spPr>
          <a:xfrm>
            <a:off x="193040" y="3662116"/>
            <a:ext cx="5137079" cy="131730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u="sng">
                <a:solidFill>
                  <a:srgbClr val="FF0000"/>
                </a:solidFill>
              </a:rPr>
              <a:t>Key Words:</a:t>
            </a:r>
          </a:p>
          <a:p>
            <a:pPr marL="0" lvl="0" indent="0" algn="l" rtl="0">
              <a:spcBef>
                <a:spcPts val="0"/>
              </a:spcBef>
              <a:spcAft>
                <a:spcPts val="0"/>
              </a:spcAft>
              <a:buNone/>
            </a:pPr>
            <a:r>
              <a:rPr lang="en-US">
                <a:solidFill>
                  <a:srgbClr val="FF0000"/>
                </a:solidFill>
              </a:rPr>
              <a:t>See the above starter task…</a:t>
            </a:r>
          </a:p>
        </p:txBody>
      </p:sp>
      <p:sp>
        <p:nvSpPr>
          <p:cNvPr id="2" name="TextBox 1">
            <a:extLst>
              <a:ext uri="{FF2B5EF4-FFF2-40B4-BE49-F238E27FC236}">
                <a16:creationId xmlns:a16="http://schemas.microsoft.com/office/drawing/2014/main" id="{837AB31E-99A2-C944-A7A0-674849731421}"/>
              </a:ext>
            </a:extLst>
          </p:cNvPr>
          <p:cNvSpPr txBox="1"/>
          <p:nvPr/>
        </p:nvSpPr>
        <p:spPr>
          <a:xfrm>
            <a:off x="7183120" y="0"/>
            <a:ext cx="1971041" cy="369332"/>
          </a:xfrm>
          <a:prstGeom prst="rect">
            <a:avLst/>
          </a:prstGeom>
          <a:noFill/>
        </p:spPr>
        <p:txBody>
          <a:bodyPr wrap="square" rtlCol="0">
            <a:spAutoFit/>
          </a:bodyPr>
          <a:lstStyle/>
          <a:p>
            <a:pPr algn="ctr"/>
            <a:fld id="{60B4EA05-DA11-BE4C-90AB-5CB25AC8574F}" type="datetime1">
              <a:rPr lang="en-GB" sz="1800" b="1" u="sng" smtClean="0">
                <a:solidFill>
                  <a:schemeClr val="accent1"/>
                </a:solidFill>
                <a:latin typeface="Source Code Pro"/>
                <a:ea typeface="Source Code Pro"/>
                <a:sym typeface="Source Code Pro"/>
              </a:rPr>
              <a:pPr algn="ctr"/>
              <a:t>09/10/2026</a:t>
            </a:fld>
            <a:endParaRPr lang="en-US" sz="1800" b="1" u="sng">
              <a:solidFill>
                <a:schemeClr val="accent1"/>
              </a:solidFill>
              <a:latin typeface="Source Code Pro"/>
              <a:ea typeface="Source Code Pro"/>
              <a:sym typeface="Source Code Pro"/>
            </a:endParaRPr>
          </a:p>
        </p:txBody>
      </p:sp>
      <p:sp>
        <p:nvSpPr>
          <p:cNvPr id="6" name="Google Shape;57;p13">
            <a:extLst>
              <a:ext uri="{FF2B5EF4-FFF2-40B4-BE49-F238E27FC236}">
                <a16:creationId xmlns:a16="http://schemas.microsoft.com/office/drawing/2014/main" id="{5C3B216F-00CC-8440-BCDD-8EA9FBC0FE32}"/>
              </a:ext>
            </a:extLst>
          </p:cNvPr>
          <p:cNvSpPr txBox="1">
            <a:spLocks/>
          </p:cNvSpPr>
          <p:nvPr/>
        </p:nvSpPr>
        <p:spPr>
          <a:xfrm>
            <a:off x="193040" y="1957448"/>
            <a:ext cx="8422640" cy="12041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accent1"/>
              </a:buClr>
              <a:buSzPts val="2100"/>
              <a:buFont typeface="Source Code Pro"/>
              <a:buNone/>
              <a:defRPr sz="2100" b="1" i="0" u="none" strike="noStrike" cap="none">
                <a:solidFill>
                  <a:schemeClr val="accent1"/>
                </a:solidFill>
                <a:latin typeface="Source Code Pro"/>
                <a:ea typeface="Source Code Pro"/>
                <a:cs typeface="Source Code Pro"/>
                <a:sym typeface="Source Code Pro"/>
              </a:defRPr>
            </a:lvl1pPr>
            <a:lvl2pPr marL="914400" marR="0" lvl="1" indent="-317500" algn="ctr" rtl="0">
              <a:lnSpc>
                <a:spcPct val="100000"/>
              </a:lnSpc>
              <a:spcBef>
                <a:spcPts val="0"/>
              </a:spcBef>
              <a:spcAft>
                <a:spcPts val="0"/>
              </a:spcAft>
              <a:buClr>
                <a:schemeClr val="accent1"/>
              </a:buClr>
              <a:buSzPts val="2100"/>
              <a:buFont typeface="Source Code Pro"/>
              <a:buNone/>
              <a:defRPr sz="2100" b="1" i="0" u="none" strike="noStrike" cap="none">
                <a:solidFill>
                  <a:schemeClr val="accent1"/>
                </a:solidFill>
                <a:latin typeface="Source Code Pro"/>
                <a:ea typeface="Source Code Pro"/>
                <a:cs typeface="Source Code Pro"/>
                <a:sym typeface="Source Code Pro"/>
              </a:defRPr>
            </a:lvl2pPr>
            <a:lvl3pPr marL="1371600" marR="0" lvl="2" indent="-317500" algn="ctr" rtl="0">
              <a:lnSpc>
                <a:spcPct val="100000"/>
              </a:lnSpc>
              <a:spcBef>
                <a:spcPts val="0"/>
              </a:spcBef>
              <a:spcAft>
                <a:spcPts val="0"/>
              </a:spcAft>
              <a:buClr>
                <a:schemeClr val="accent1"/>
              </a:buClr>
              <a:buSzPts val="2100"/>
              <a:buFont typeface="Source Code Pro"/>
              <a:buNone/>
              <a:defRPr sz="2100" b="1" i="0" u="none" strike="noStrike" cap="none">
                <a:solidFill>
                  <a:schemeClr val="accent1"/>
                </a:solidFill>
                <a:latin typeface="Source Code Pro"/>
                <a:ea typeface="Source Code Pro"/>
                <a:cs typeface="Source Code Pro"/>
                <a:sym typeface="Source Code Pro"/>
              </a:defRPr>
            </a:lvl3pPr>
            <a:lvl4pPr marL="1828800" marR="0" lvl="3" indent="-317500" algn="ctr" rtl="0">
              <a:lnSpc>
                <a:spcPct val="100000"/>
              </a:lnSpc>
              <a:spcBef>
                <a:spcPts val="0"/>
              </a:spcBef>
              <a:spcAft>
                <a:spcPts val="0"/>
              </a:spcAft>
              <a:buClr>
                <a:schemeClr val="accent1"/>
              </a:buClr>
              <a:buSzPts val="2100"/>
              <a:buFont typeface="Source Code Pro"/>
              <a:buNone/>
              <a:defRPr sz="2100" b="1" i="0" u="none" strike="noStrike" cap="none">
                <a:solidFill>
                  <a:schemeClr val="accent1"/>
                </a:solidFill>
                <a:latin typeface="Source Code Pro"/>
                <a:ea typeface="Source Code Pro"/>
                <a:cs typeface="Source Code Pro"/>
                <a:sym typeface="Source Code Pro"/>
              </a:defRPr>
            </a:lvl4pPr>
            <a:lvl5pPr marL="2286000" marR="0" lvl="4" indent="-317500" algn="ctr" rtl="0">
              <a:lnSpc>
                <a:spcPct val="100000"/>
              </a:lnSpc>
              <a:spcBef>
                <a:spcPts val="0"/>
              </a:spcBef>
              <a:spcAft>
                <a:spcPts val="0"/>
              </a:spcAft>
              <a:buClr>
                <a:schemeClr val="accent1"/>
              </a:buClr>
              <a:buSzPts val="2100"/>
              <a:buFont typeface="Source Code Pro"/>
              <a:buNone/>
              <a:defRPr sz="2100" b="1" i="0" u="none" strike="noStrike" cap="none">
                <a:solidFill>
                  <a:schemeClr val="accent1"/>
                </a:solidFill>
                <a:latin typeface="Source Code Pro"/>
                <a:ea typeface="Source Code Pro"/>
                <a:cs typeface="Source Code Pro"/>
                <a:sym typeface="Source Code Pro"/>
              </a:defRPr>
            </a:lvl5pPr>
            <a:lvl6pPr marL="2743200" marR="0" lvl="5" indent="-317500" algn="ctr" rtl="0">
              <a:lnSpc>
                <a:spcPct val="100000"/>
              </a:lnSpc>
              <a:spcBef>
                <a:spcPts val="0"/>
              </a:spcBef>
              <a:spcAft>
                <a:spcPts val="0"/>
              </a:spcAft>
              <a:buClr>
                <a:schemeClr val="accent1"/>
              </a:buClr>
              <a:buSzPts val="2100"/>
              <a:buFont typeface="Source Code Pro"/>
              <a:buNone/>
              <a:defRPr sz="2100" b="1" i="0" u="none" strike="noStrike" cap="none">
                <a:solidFill>
                  <a:schemeClr val="accent1"/>
                </a:solidFill>
                <a:latin typeface="Source Code Pro"/>
                <a:ea typeface="Source Code Pro"/>
                <a:cs typeface="Source Code Pro"/>
                <a:sym typeface="Source Code Pro"/>
              </a:defRPr>
            </a:lvl6pPr>
            <a:lvl7pPr marL="3200400" marR="0" lvl="6" indent="-317500" algn="ctr" rtl="0">
              <a:lnSpc>
                <a:spcPct val="100000"/>
              </a:lnSpc>
              <a:spcBef>
                <a:spcPts val="0"/>
              </a:spcBef>
              <a:spcAft>
                <a:spcPts val="0"/>
              </a:spcAft>
              <a:buClr>
                <a:schemeClr val="accent1"/>
              </a:buClr>
              <a:buSzPts val="2100"/>
              <a:buFont typeface="Source Code Pro"/>
              <a:buNone/>
              <a:defRPr sz="2100" b="1" i="0" u="none" strike="noStrike" cap="none">
                <a:solidFill>
                  <a:schemeClr val="accent1"/>
                </a:solidFill>
                <a:latin typeface="Source Code Pro"/>
                <a:ea typeface="Source Code Pro"/>
                <a:cs typeface="Source Code Pro"/>
                <a:sym typeface="Source Code Pro"/>
              </a:defRPr>
            </a:lvl7pPr>
            <a:lvl8pPr marL="3657600" marR="0" lvl="7" indent="-317500" algn="ctr" rtl="0">
              <a:lnSpc>
                <a:spcPct val="100000"/>
              </a:lnSpc>
              <a:spcBef>
                <a:spcPts val="0"/>
              </a:spcBef>
              <a:spcAft>
                <a:spcPts val="0"/>
              </a:spcAft>
              <a:buClr>
                <a:schemeClr val="accent1"/>
              </a:buClr>
              <a:buSzPts val="2100"/>
              <a:buFont typeface="Source Code Pro"/>
              <a:buNone/>
              <a:defRPr sz="2100" b="1" i="0" u="none" strike="noStrike" cap="none">
                <a:solidFill>
                  <a:schemeClr val="accent1"/>
                </a:solidFill>
                <a:latin typeface="Source Code Pro"/>
                <a:ea typeface="Source Code Pro"/>
                <a:cs typeface="Source Code Pro"/>
                <a:sym typeface="Source Code Pro"/>
              </a:defRPr>
            </a:lvl8pPr>
            <a:lvl9pPr marL="4114800" marR="0" lvl="8" indent="-317500" algn="ctr" rtl="0">
              <a:lnSpc>
                <a:spcPct val="100000"/>
              </a:lnSpc>
              <a:spcBef>
                <a:spcPts val="0"/>
              </a:spcBef>
              <a:spcAft>
                <a:spcPts val="0"/>
              </a:spcAft>
              <a:buClr>
                <a:schemeClr val="accent1"/>
              </a:buClr>
              <a:buSzPts val="2100"/>
              <a:buFont typeface="Source Code Pro"/>
              <a:buNone/>
              <a:defRPr sz="2100" b="1" i="0" u="none" strike="noStrike" cap="none">
                <a:solidFill>
                  <a:schemeClr val="accent1"/>
                </a:solidFill>
                <a:latin typeface="Source Code Pro"/>
                <a:ea typeface="Source Code Pro"/>
                <a:cs typeface="Source Code Pro"/>
                <a:sym typeface="Source Code Pro"/>
              </a:defRPr>
            </a:lvl9pPr>
          </a:lstStyle>
          <a:p>
            <a:pPr marL="0" indent="0" algn="l"/>
            <a:r>
              <a:rPr lang="en-US" sz="2000" u="sng" dirty="0"/>
              <a:t>Starter/R2R - Key word challenge:</a:t>
            </a:r>
          </a:p>
          <a:p>
            <a:pPr marL="0" indent="0" algn="l"/>
            <a:r>
              <a:rPr lang="en-US" sz="2000" dirty="0"/>
              <a:t>Task: In the back of your books</a:t>
            </a:r>
            <a:endParaRPr lang="en-US" sz="2000" b="0" dirty="0"/>
          </a:p>
          <a:p>
            <a:pPr marL="0" indent="0" algn="l"/>
            <a:endParaRPr lang="en-US" sz="2000" b="0" dirty="0"/>
          </a:p>
          <a:p>
            <a:pPr marL="342900" algn="l">
              <a:buFont typeface="Arial" panose="020B0604020202020204" pitchFamily="34" charset="0"/>
              <a:buChar char="•"/>
            </a:pPr>
            <a:r>
              <a:rPr lang="en-US" sz="2000" dirty="0">
                <a:solidFill>
                  <a:srgbClr val="7030A0"/>
                </a:solidFill>
              </a:rPr>
              <a:t>Challenge: Answer the title question</a:t>
            </a:r>
            <a:endParaRPr lang="en-US" sz="2000" b="0" dirty="0"/>
          </a:p>
        </p:txBody>
      </p:sp>
      <p:sp>
        <p:nvSpPr>
          <p:cNvPr id="3" name="Rectangle 2">
            <a:extLst>
              <a:ext uri="{FF2B5EF4-FFF2-40B4-BE49-F238E27FC236}">
                <a16:creationId xmlns:a16="http://schemas.microsoft.com/office/drawing/2014/main" id="{6817CE90-FC6C-084A-ACD8-5BBD02328DC5}"/>
              </a:ext>
            </a:extLst>
          </p:cNvPr>
          <p:cNvSpPr/>
          <p:nvPr/>
        </p:nvSpPr>
        <p:spPr>
          <a:xfrm>
            <a:off x="6963508" y="3788900"/>
            <a:ext cx="1424354" cy="2071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99887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graphicFrame>
        <p:nvGraphicFramePr>
          <p:cNvPr id="110" name="Google Shape;110;p22"/>
          <p:cNvGraphicFramePr/>
          <p:nvPr>
            <p:extLst>
              <p:ext uri="{D42A27DB-BD31-4B8C-83A1-F6EECF244321}">
                <p14:modId xmlns:p14="http://schemas.microsoft.com/office/powerpoint/2010/main" val="704710422"/>
              </p:ext>
            </p:extLst>
          </p:nvPr>
        </p:nvGraphicFramePr>
        <p:xfrm>
          <a:off x="0" y="1"/>
          <a:ext cx="9144025" cy="5177333"/>
        </p:xfrm>
        <a:graphic>
          <a:graphicData uri="http://schemas.openxmlformats.org/drawingml/2006/table">
            <a:tbl>
              <a:tblPr>
                <a:noFill/>
              </a:tblPr>
              <a:tblGrid>
                <a:gridCol w="1499125">
                  <a:extLst>
                    <a:ext uri="{9D8B030D-6E8A-4147-A177-3AD203B41FA5}">
                      <a16:colId xmlns:a16="http://schemas.microsoft.com/office/drawing/2014/main" val="20000"/>
                    </a:ext>
                  </a:extLst>
                </a:gridCol>
                <a:gridCol w="1499125">
                  <a:extLst>
                    <a:ext uri="{9D8B030D-6E8A-4147-A177-3AD203B41FA5}">
                      <a16:colId xmlns:a16="http://schemas.microsoft.com/office/drawing/2014/main" val="20001"/>
                    </a:ext>
                  </a:extLst>
                </a:gridCol>
                <a:gridCol w="1499125">
                  <a:extLst>
                    <a:ext uri="{9D8B030D-6E8A-4147-A177-3AD203B41FA5}">
                      <a16:colId xmlns:a16="http://schemas.microsoft.com/office/drawing/2014/main" val="20002"/>
                    </a:ext>
                  </a:extLst>
                </a:gridCol>
                <a:gridCol w="1499125">
                  <a:extLst>
                    <a:ext uri="{9D8B030D-6E8A-4147-A177-3AD203B41FA5}">
                      <a16:colId xmlns:a16="http://schemas.microsoft.com/office/drawing/2014/main" val="20003"/>
                    </a:ext>
                  </a:extLst>
                </a:gridCol>
                <a:gridCol w="1499125">
                  <a:extLst>
                    <a:ext uri="{9D8B030D-6E8A-4147-A177-3AD203B41FA5}">
                      <a16:colId xmlns:a16="http://schemas.microsoft.com/office/drawing/2014/main" val="20004"/>
                    </a:ext>
                  </a:extLst>
                </a:gridCol>
                <a:gridCol w="1648400">
                  <a:extLst>
                    <a:ext uri="{9D8B030D-6E8A-4147-A177-3AD203B41FA5}">
                      <a16:colId xmlns:a16="http://schemas.microsoft.com/office/drawing/2014/main" val="20005"/>
                    </a:ext>
                  </a:extLst>
                </a:gridCol>
              </a:tblGrid>
              <a:tr h="974121">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b="0" i="0" u="none" strike="noStrike" cap="none">
                          <a:solidFill>
                            <a:schemeClr val="accent1"/>
                          </a:solidFill>
                          <a:latin typeface="+mn-lt"/>
                          <a:ea typeface="+mn-ea"/>
                          <a:cs typeface="+mn-cs"/>
                          <a:sym typeface="Arial"/>
                        </a:rPr>
                        <a:t>Organelle</a:t>
                      </a:r>
                    </a:p>
                  </a:txBody>
                  <a:tcPr marL="91425" marR="91425" marT="91425" marB="91425" anchor="ctr">
                    <a:lnL w="19050" cap="flat" cmpd="sng">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600">
                          <a:solidFill>
                            <a:schemeClr val="accent1"/>
                          </a:solidFill>
                        </a:rPr>
                        <a:t>Cell</a:t>
                      </a:r>
                      <a:endParaRPr sz="1600">
                        <a:solidFill>
                          <a:schemeClr val="accent1"/>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600">
                          <a:solidFill>
                            <a:schemeClr val="accent1"/>
                          </a:solidFill>
                        </a:rPr>
                        <a:t>Tissue</a:t>
                      </a:r>
                      <a:endParaRPr sz="1600">
                        <a:solidFill>
                          <a:schemeClr val="accent1"/>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600">
                          <a:solidFill>
                            <a:schemeClr val="accent1"/>
                          </a:solidFill>
                        </a:rPr>
                        <a:t>Organ</a:t>
                      </a:r>
                      <a:endParaRPr sz="1600">
                        <a:solidFill>
                          <a:schemeClr val="accent1"/>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600">
                          <a:solidFill>
                            <a:schemeClr val="accent1"/>
                          </a:solidFill>
                        </a:rPr>
                        <a:t>Organ system</a:t>
                      </a:r>
                      <a:endParaRPr sz="1600">
                        <a:solidFill>
                          <a:schemeClr val="accent1"/>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US" sz="1600">
                          <a:solidFill>
                            <a:schemeClr val="accent1"/>
                          </a:solidFill>
                        </a:rPr>
                        <a:t>Prokaryotic / Eukaryotic Organism</a:t>
                      </a:r>
                      <a:endParaRPr sz="1600">
                        <a:solidFill>
                          <a:schemeClr val="accent1"/>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974121">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600">
                          <a:solidFill>
                            <a:schemeClr val="accent1"/>
                          </a:solidFill>
                        </a:rPr>
                        <a:t>Resolution / magnification / microscopy</a:t>
                      </a:r>
                    </a:p>
                  </a:txBody>
                  <a:tcPr marL="91425" marR="91425" marT="91425" marB="91425" anchor="ctr">
                    <a:lnL w="19050" cap="flat" cmpd="sng">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600">
                          <a:solidFill>
                            <a:schemeClr val="accent1"/>
                          </a:solidFill>
                        </a:rPr>
                        <a:t>Nucleus</a:t>
                      </a:r>
                    </a:p>
                  </a:txBody>
                  <a:tcPr marL="91425" marR="91425" marT="91425" marB="91425" anchor="ctr">
                    <a:lnL w="19050" cap="flat" cmpd="sng">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US" sz="1600" b="0" i="0" u="none" strike="noStrike" cap="none">
                          <a:solidFill>
                            <a:schemeClr val="accent1"/>
                          </a:solidFill>
                          <a:latin typeface="+mn-lt"/>
                          <a:ea typeface="+mn-ea"/>
                          <a:cs typeface="+mn-cs"/>
                          <a:sym typeface="Arial"/>
                        </a:rPr>
                        <a:t>Cytoplasm</a:t>
                      </a:r>
                      <a:endParaRPr sz="1600" b="0" i="0" u="none" strike="noStrike" cap="none">
                        <a:solidFill>
                          <a:schemeClr val="accent1"/>
                        </a:solidFill>
                        <a:latin typeface="+mn-lt"/>
                        <a:ea typeface="+mn-ea"/>
                        <a:cs typeface="+mn-cs"/>
                        <a:sym typeface="Arial"/>
                      </a:endParaRPr>
                    </a:p>
                  </a:txBody>
                  <a:tcPr marL="91425" marR="91425" marT="91425" marB="91425" anchor="ctr">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algn="ctr"/>
                      <a:r>
                        <a:rPr lang="en-GB">
                          <a:solidFill>
                            <a:schemeClr val="accent1"/>
                          </a:solidFill>
                        </a:rPr>
                        <a:t>Mitochondria</a:t>
                      </a:r>
                    </a:p>
                  </a:txBody>
                  <a:tcPr marL="91425" marR="91425" marT="91425" marB="91425" anchor="ctr">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600" b="0" i="0" u="none" strike="noStrike" cap="none">
                          <a:solidFill>
                            <a:schemeClr val="accent1"/>
                          </a:solidFill>
                          <a:latin typeface="+mn-lt"/>
                          <a:ea typeface="+mn-ea"/>
                          <a:cs typeface="+mn-cs"/>
                          <a:sym typeface="Arial"/>
                        </a:rPr>
                        <a:t>Chloroplast </a:t>
                      </a:r>
                      <a:endParaRPr sz="1600" b="0" i="0" u="none" strike="noStrike" cap="none">
                        <a:solidFill>
                          <a:schemeClr val="accent1"/>
                        </a:solidFill>
                        <a:latin typeface="+mn-lt"/>
                        <a:ea typeface="+mn-ea"/>
                        <a:cs typeface="+mn-cs"/>
                        <a:sym typeface="Arial"/>
                      </a:endParaRPr>
                    </a:p>
                  </a:txBody>
                  <a:tcPr marL="91425" marR="91425" marT="91425" marB="91425" anchor="ctr">
                    <a:lnL w="19050" cap="flat" cmpd="sng">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600" b="0" i="0" u="none" strike="noStrike" cap="none">
                          <a:solidFill>
                            <a:schemeClr val="accent1"/>
                          </a:solidFill>
                          <a:latin typeface="+mn-lt"/>
                          <a:ea typeface="+mn-ea"/>
                          <a:cs typeface="+mn-cs"/>
                          <a:sym typeface="Arial"/>
                        </a:rPr>
                        <a:t>Cell membrane </a:t>
                      </a:r>
                      <a:endParaRPr sz="1600" b="0" i="0" u="none" strike="noStrike" cap="none">
                        <a:solidFill>
                          <a:schemeClr val="accent1"/>
                        </a:solidFill>
                        <a:latin typeface="+mn-lt"/>
                        <a:ea typeface="+mn-ea"/>
                        <a:cs typeface="+mn-cs"/>
                        <a:sym typeface="Arial"/>
                      </a:endParaRPr>
                    </a:p>
                  </a:txBody>
                  <a:tcPr marL="91425" marR="91425" marT="91425" marB="91425" anchor="ctr">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096760">
                <a:tc>
                  <a:txBody>
                    <a:bodyPr/>
                    <a:lstStyle/>
                    <a:p>
                      <a:pPr marL="0" lvl="0" indent="0" algn="ctr" rtl="0">
                        <a:spcBef>
                          <a:spcPts val="0"/>
                        </a:spcBef>
                        <a:spcAft>
                          <a:spcPts val="0"/>
                        </a:spcAft>
                        <a:buNone/>
                      </a:pPr>
                      <a:r>
                        <a:rPr lang="en-GB" sz="1600">
                          <a:solidFill>
                            <a:schemeClr val="accent1"/>
                          </a:solidFill>
                        </a:rPr>
                        <a:t>Genes (‘like recipes’)</a:t>
                      </a: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600">
                          <a:solidFill>
                            <a:schemeClr val="accent1"/>
                          </a:solidFill>
                        </a:rPr>
                        <a:t>Protein synthesis</a:t>
                      </a:r>
                    </a:p>
                  </a:txBody>
                  <a:tcPr marL="91425" marR="91425" marT="91425" marB="91425" anchor="ctr">
                    <a:lnL w="19050" cap="flat" cmpd="sng">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600">
                          <a:solidFill>
                            <a:schemeClr val="accent1"/>
                          </a:solidFill>
                        </a:rPr>
                        <a:t>Metabolism &amp; Digestion</a:t>
                      </a: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algn="ctr"/>
                      <a:r>
                        <a:rPr lang="en-GB" sz="1600" b="0" i="0" u="none" strike="noStrike" cap="none">
                          <a:solidFill>
                            <a:schemeClr val="accent1"/>
                          </a:solidFill>
                          <a:latin typeface="+mn-lt"/>
                          <a:ea typeface="+mn-ea"/>
                          <a:cs typeface="+mn-cs"/>
                          <a:sym typeface="Arial"/>
                        </a:rPr>
                        <a:t>Aerobic / Anaerobic Respiration</a:t>
                      </a: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400" b="0" i="0" u="none" strike="noStrike" cap="none">
                          <a:solidFill>
                            <a:schemeClr val="accent1"/>
                          </a:solidFill>
                          <a:latin typeface="+mn-lt"/>
                          <a:ea typeface="+mn-ea"/>
                          <a:cs typeface="+mn-cs"/>
                          <a:sym typeface="Arial"/>
                        </a:rPr>
                        <a:t>Photosynthesis</a:t>
                      </a:r>
                    </a:p>
                  </a:txBody>
                  <a:tcPr marL="91425" marR="91425" marT="91425" marB="91425" anchor="ctr">
                    <a:lnL w="19050" cap="flat" cmpd="sng">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600" b="0" i="0" u="none" strike="noStrike" cap="none">
                          <a:solidFill>
                            <a:schemeClr val="accent1"/>
                          </a:solidFill>
                          <a:latin typeface="+mn-lt"/>
                          <a:ea typeface="+mn-ea"/>
                          <a:cs typeface="+mn-cs"/>
                          <a:sym typeface="Arial"/>
                        </a:rPr>
                        <a:t>Measuring the rate of photosynthesis </a:t>
                      </a:r>
                      <a:endParaRPr sz="1600" b="0" i="0" u="none" strike="noStrike" cap="none">
                        <a:solidFill>
                          <a:schemeClr val="accent1"/>
                        </a:solidFill>
                        <a:latin typeface="+mn-lt"/>
                        <a:ea typeface="+mn-ea"/>
                        <a:cs typeface="+mn-cs"/>
                        <a:sym typeface="Arial"/>
                      </a:endParaRPr>
                    </a:p>
                  </a:txBody>
                  <a:tcPr marL="91425" marR="91425" marT="91425" marB="91425" anchor="ctr">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124376">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200" b="1">
                          <a:solidFill>
                            <a:schemeClr val="accent1"/>
                          </a:solidFill>
                        </a:rPr>
                        <a:t>DNA</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200">
                          <a:solidFill>
                            <a:schemeClr val="accent1"/>
                          </a:solidFill>
                        </a:rPr>
                        <a:t>Double Helix / Sugar Phosphate backbone</a:t>
                      </a: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Font typeface="Arial"/>
                        <a:buNone/>
                      </a:pPr>
                      <a:r>
                        <a:rPr lang="en-US" sz="1600" b="0" i="0" u="none" strike="noStrike" cap="none">
                          <a:solidFill>
                            <a:schemeClr val="accent1"/>
                          </a:solidFill>
                          <a:latin typeface="+mn-lt"/>
                          <a:ea typeface="+mn-ea"/>
                          <a:cs typeface="+mn-cs"/>
                          <a:sym typeface="Arial"/>
                        </a:rPr>
                        <a:t>Lipase/ amylase/ protease</a:t>
                      </a:r>
                      <a:endParaRPr sz="1600" b="0" i="0" u="none" strike="noStrike" cap="none">
                        <a:solidFill>
                          <a:schemeClr val="accent1"/>
                        </a:solidFill>
                        <a:latin typeface="+mn-lt"/>
                        <a:ea typeface="+mn-ea"/>
                        <a:cs typeface="+mn-cs"/>
                        <a:sym typeface="Arial"/>
                      </a:endParaRPr>
                    </a:p>
                  </a:txBody>
                  <a:tcPr marL="91425" marR="91425" marT="91425" marB="91425" anchor="ctr">
                    <a:lnL w="19050" cap="flat" cmpd="sng">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Font typeface="Arial"/>
                        <a:buNone/>
                      </a:pPr>
                      <a:r>
                        <a:rPr lang="en-GB" sz="1600" b="0" i="0" u="none" strike="noStrike" cap="none">
                          <a:solidFill>
                            <a:schemeClr val="accent1"/>
                          </a:solidFill>
                          <a:latin typeface="+mn-lt"/>
                          <a:ea typeface="+mn-ea"/>
                          <a:cs typeface="+mn-cs"/>
                          <a:sym typeface="Arial"/>
                        </a:rPr>
                        <a:t>Enzymes</a:t>
                      </a:r>
                      <a:endParaRPr sz="1600" b="0" i="0" u="none" strike="noStrike" cap="none">
                        <a:solidFill>
                          <a:schemeClr val="accent1"/>
                        </a:solidFill>
                        <a:latin typeface="+mn-lt"/>
                        <a:ea typeface="+mn-ea"/>
                        <a:cs typeface="+mn-cs"/>
                        <a:sym typeface="Aria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R="0" algn="ctr" rtl="0">
                        <a:lnSpc>
                          <a:spcPct val="100000"/>
                        </a:lnSpc>
                        <a:spcBef>
                          <a:spcPts val="0"/>
                        </a:spcBef>
                        <a:spcAft>
                          <a:spcPts val="0"/>
                        </a:spcAft>
                        <a:buClr>
                          <a:srgbClr val="000000"/>
                        </a:buClr>
                        <a:buFont typeface="Arial"/>
                      </a:pPr>
                      <a:r>
                        <a:rPr lang="en-GB" sz="1600" b="0" i="0" u="none" strike="noStrike" cap="none">
                          <a:solidFill>
                            <a:schemeClr val="accent1"/>
                          </a:solidFill>
                          <a:latin typeface="+mn-lt"/>
                          <a:ea typeface="+mn-ea"/>
                          <a:cs typeface="+mn-cs"/>
                          <a:sym typeface="Arial"/>
                        </a:rPr>
                        <a:t>ATP</a:t>
                      </a: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b="0" i="0" u="none" strike="noStrike" cap="none">
                          <a:solidFill>
                            <a:schemeClr val="accent1"/>
                          </a:solidFill>
                          <a:latin typeface="+mn-lt"/>
                          <a:ea typeface="+mn-ea"/>
                          <a:cs typeface="+mn-cs"/>
                          <a:sym typeface="Arial"/>
                        </a:rPr>
                        <a:t>Limiting factor e.g. Light intensity</a:t>
                      </a:r>
                    </a:p>
                  </a:txBody>
                  <a:tcPr marL="91425" marR="91425" marT="91425" marB="91425" anchor="ctr">
                    <a:lnL w="19050" cap="flat" cmpd="sng">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a:solidFill>
                            <a:schemeClr val="accent1"/>
                          </a:solidFill>
                        </a:rPr>
                        <a:t>Phenolphthalein indicator for fatty acids (lipid digestion)</a:t>
                      </a:r>
                    </a:p>
                  </a:txBody>
                  <a:tcPr marL="91425" marR="91425" marT="91425" marB="91425" anchor="ctr">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974121">
                <a:tc>
                  <a:txBody>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600" b="0" i="0" u="none" strike="noStrike" cap="none">
                          <a:solidFill>
                            <a:schemeClr val="accent1"/>
                          </a:solidFill>
                          <a:latin typeface="+mn-lt"/>
                          <a:ea typeface="+mn-ea"/>
                          <a:cs typeface="+mn-cs"/>
                          <a:sym typeface="Arial"/>
                        </a:rPr>
                        <a:t>Bases (A-T, C-G)</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endParaRPr lang="en-GB" sz="1600">
                        <a:solidFill>
                          <a:schemeClr val="accent1"/>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600" b="0" i="0" u="none" strike="noStrike" cap="none">
                          <a:solidFill>
                            <a:schemeClr val="accent1"/>
                          </a:solidFill>
                          <a:latin typeface="+mn-lt"/>
                          <a:ea typeface="+mn-ea"/>
                          <a:cs typeface="+mn-cs"/>
                          <a:sym typeface="Arial"/>
                        </a:rPr>
                        <a:t>Denature</a:t>
                      </a:r>
                      <a:endParaRPr sz="1600" b="0" i="0" u="none" strike="noStrike" cap="none">
                        <a:solidFill>
                          <a:schemeClr val="accent1"/>
                        </a:solidFill>
                        <a:latin typeface="+mn-lt"/>
                        <a:ea typeface="+mn-ea"/>
                        <a:cs typeface="+mn-cs"/>
                        <a:sym typeface="Arial"/>
                      </a:endParaRPr>
                    </a:p>
                  </a:txBody>
                  <a:tcPr marL="91425" marR="91425" marT="91425" marB="91425" anchor="ctr">
                    <a:lnL w="19050" cap="flat" cmpd="sng">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Font typeface="Arial"/>
                        <a:buNone/>
                      </a:pPr>
                      <a:r>
                        <a:rPr lang="en-US" sz="1600" b="0" i="0" u="none" strike="noStrike" cap="none">
                          <a:solidFill>
                            <a:schemeClr val="accent1"/>
                          </a:solidFill>
                          <a:latin typeface="+mn-lt"/>
                          <a:ea typeface="+mn-ea"/>
                          <a:cs typeface="+mn-cs"/>
                          <a:sym typeface="Arial"/>
                        </a:rPr>
                        <a:t>Optimum pH/ temperature</a:t>
                      </a:r>
                      <a:endParaRPr sz="1600" b="0" i="0" u="none" strike="noStrike" cap="none">
                        <a:solidFill>
                          <a:schemeClr val="accent1"/>
                        </a:solidFill>
                        <a:latin typeface="+mn-lt"/>
                        <a:ea typeface="+mn-ea"/>
                        <a:cs typeface="+mn-cs"/>
                        <a:sym typeface="Aria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600" b="0" i="0" u="none" strike="noStrike" cap="none">
                          <a:solidFill>
                            <a:schemeClr val="accent1"/>
                          </a:solidFill>
                          <a:latin typeface="+mn-lt"/>
                          <a:ea typeface="+mn-ea"/>
                          <a:cs typeface="+mn-cs"/>
                          <a:sym typeface="Arial"/>
                        </a:rPr>
                        <a:t>Lactic acid/ </a:t>
                      </a:r>
                      <a:r>
                        <a:rPr lang="en-US" sz="1600">
                          <a:solidFill>
                            <a:schemeClr val="accent1"/>
                          </a:solidFill>
                        </a:rPr>
                        <a:t>Ethanol</a:t>
                      </a: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b="0" i="0" u="none" strike="noStrike" cap="none">
                          <a:solidFill>
                            <a:schemeClr val="accent1"/>
                          </a:solidFill>
                          <a:latin typeface="+mn-lt"/>
                          <a:ea typeface="+mn-ea"/>
                          <a:cs typeface="+mn-cs"/>
                          <a:sym typeface="Arial"/>
                        </a:rPr>
                        <a:t>CO</a:t>
                      </a:r>
                      <a:r>
                        <a:rPr lang="en-US" sz="1600" b="0" i="0" u="none" strike="noStrike" cap="none" baseline="-25000">
                          <a:solidFill>
                            <a:schemeClr val="accent1"/>
                          </a:solidFill>
                          <a:latin typeface="+mn-lt"/>
                          <a:ea typeface="+mn-ea"/>
                          <a:cs typeface="+mn-cs"/>
                          <a:sym typeface="Arial"/>
                        </a:rPr>
                        <a:t>2</a:t>
                      </a:r>
                      <a:r>
                        <a:rPr lang="en-US" sz="1600" b="0" i="0" u="none" strike="noStrike" cap="none">
                          <a:solidFill>
                            <a:schemeClr val="accent1"/>
                          </a:solidFill>
                          <a:latin typeface="+mn-lt"/>
                          <a:ea typeface="+mn-ea"/>
                          <a:cs typeface="+mn-cs"/>
                          <a:sym typeface="Arial"/>
                        </a:rPr>
                        <a:t> concentration</a:t>
                      </a:r>
                    </a:p>
                    <a:p>
                      <a:pPr marL="0" marR="0" lvl="0" indent="0" algn="ctr" rtl="0">
                        <a:lnSpc>
                          <a:spcPct val="100000"/>
                        </a:lnSpc>
                        <a:spcBef>
                          <a:spcPts val="0"/>
                        </a:spcBef>
                        <a:spcAft>
                          <a:spcPts val="0"/>
                        </a:spcAft>
                        <a:buClr>
                          <a:srgbClr val="000000"/>
                        </a:buClr>
                        <a:buFont typeface="Arial"/>
                        <a:buNone/>
                      </a:pPr>
                      <a:endParaRPr sz="1600" b="0" i="0" u="none" strike="noStrike" cap="none">
                        <a:solidFill>
                          <a:schemeClr val="accent1"/>
                        </a:solidFill>
                        <a:latin typeface="+mn-lt"/>
                        <a:ea typeface="+mn-ea"/>
                        <a:cs typeface="+mn-cs"/>
                        <a:sym typeface="Arial"/>
                      </a:endParaRPr>
                    </a:p>
                  </a:txBody>
                  <a:tcPr marL="91425" marR="91425" marT="91425" marB="91425" anchor="ctr">
                    <a:lnL w="19050" cap="flat" cmpd="sng">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accent1"/>
                          </a:solidFill>
                          <a:latin typeface="+mn-lt"/>
                          <a:ea typeface="+mn-ea"/>
                          <a:cs typeface="+mn-cs"/>
                          <a:sym typeface="Arial"/>
                        </a:rPr>
                        <a:t>Accuracy, Validity (fair test), Precision, Reproducibility</a:t>
                      </a:r>
                    </a:p>
                  </a:txBody>
                  <a:tcPr marL="91425" marR="91425" marT="91425" marB="91425" anchor="ctr">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158071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1"/>
          <p:cNvSpPr txBox="1">
            <a:spLocks noGrp="1"/>
          </p:cNvSpPr>
          <p:nvPr>
            <p:ph type="title"/>
          </p:nvPr>
        </p:nvSpPr>
        <p:spPr>
          <a:xfrm>
            <a:off x="311700" y="0"/>
            <a:ext cx="8520600" cy="80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600"/>
              <a:t>Biology 1 (B1) Topics </a:t>
            </a:r>
            <a:endParaRPr sz="3600"/>
          </a:p>
        </p:txBody>
      </p:sp>
      <p:graphicFrame>
        <p:nvGraphicFramePr>
          <p:cNvPr id="106" name="Google Shape;106;p21"/>
          <p:cNvGraphicFramePr/>
          <p:nvPr/>
        </p:nvGraphicFramePr>
        <p:xfrm>
          <a:off x="1446636" y="801000"/>
          <a:ext cx="6250727" cy="4244734"/>
        </p:xfrm>
        <a:graphic>
          <a:graphicData uri="http://schemas.openxmlformats.org/drawingml/2006/table">
            <a:tbl>
              <a:tblPr>
                <a:noFill/>
                <a:tableStyleId>{CBE95525-7168-4340-89B2-6C4197B15BE8}</a:tableStyleId>
              </a:tblPr>
              <a:tblGrid>
                <a:gridCol w="1367474">
                  <a:extLst>
                    <a:ext uri="{9D8B030D-6E8A-4147-A177-3AD203B41FA5}">
                      <a16:colId xmlns:a16="http://schemas.microsoft.com/office/drawing/2014/main" val="20000"/>
                    </a:ext>
                  </a:extLst>
                </a:gridCol>
                <a:gridCol w="4883253">
                  <a:extLst>
                    <a:ext uri="{9D8B030D-6E8A-4147-A177-3AD203B41FA5}">
                      <a16:colId xmlns:a16="http://schemas.microsoft.com/office/drawing/2014/main" val="20001"/>
                    </a:ext>
                  </a:extLst>
                </a:gridCol>
              </a:tblGrid>
              <a:tr h="287099">
                <a:tc>
                  <a:txBody>
                    <a:bodyPr/>
                    <a:lstStyle/>
                    <a:p>
                      <a:pPr marL="0" lvl="0" indent="0" algn="ctr" rtl="0">
                        <a:lnSpc>
                          <a:spcPct val="115000"/>
                        </a:lnSpc>
                        <a:spcBef>
                          <a:spcPts val="0"/>
                        </a:spcBef>
                        <a:spcAft>
                          <a:spcPts val="0"/>
                        </a:spcAft>
                        <a:buNone/>
                      </a:pPr>
                      <a:r>
                        <a:rPr lang="en-GB" sz="1400" b="1"/>
                        <a:t>Unit</a:t>
                      </a:r>
                      <a:endParaRPr sz="1400" b="1"/>
                    </a:p>
                  </a:txBody>
                  <a:tcPr marL="28575" marR="28575" marT="19050" marB="19050" anchor="b">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solidFill>
                      <a:srgbClr val="D9D9D9"/>
                    </a:solidFill>
                  </a:tcPr>
                </a:tc>
                <a:tc>
                  <a:txBody>
                    <a:bodyPr/>
                    <a:lstStyle/>
                    <a:p>
                      <a:pPr marL="0" lvl="0" indent="0" algn="ctr" rtl="0">
                        <a:lnSpc>
                          <a:spcPct val="115000"/>
                        </a:lnSpc>
                        <a:spcBef>
                          <a:spcPts val="0"/>
                        </a:spcBef>
                        <a:spcAft>
                          <a:spcPts val="0"/>
                        </a:spcAft>
                        <a:buNone/>
                      </a:pPr>
                      <a:r>
                        <a:rPr lang="en-GB" sz="1400" b="1"/>
                        <a:t>Topic</a:t>
                      </a:r>
                      <a:endParaRPr sz="1400" b="1"/>
                    </a:p>
                  </a:txBody>
                  <a:tcPr marL="28575" marR="28575" marT="19050" marB="19050" anchor="b">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solidFill>
                      <a:srgbClr val="D9D9D9"/>
                    </a:solidFill>
                  </a:tcPr>
                </a:tc>
                <a:extLst>
                  <a:ext uri="{0D108BD9-81ED-4DB2-BD59-A6C34878D82A}">
                    <a16:rowId xmlns:a16="http://schemas.microsoft.com/office/drawing/2014/main" val="10000"/>
                  </a:ext>
                </a:extLst>
              </a:tr>
              <a:tr h="692679">
                <a:tc rowSpan="6">
                  <a:txBody>
                    <a:bodyPr/>
                    <a:lstStyle/>
                    <a:p>
                      <a:pPr marL="0" lvl="0" indent="0" algn="ctr" rtl="0">
                        <a:lnSpc>
                          <a:spcPct val="115000"/>
                        </a:lnSpc>
                        <a:spcBef>
                          <a:spcPts val="0"/>
                        </a:spcBef>
                        <a:spcAft>
                          <a:spcPts val="0"/>
                        </a:spcAft>
                        <a:buNone/>
                      </a:pPr>
                      <a:r>
                        <a:rPr lang="en-GB" sz="3200"/>
                        <a:t>B1</a:t>
                      </a:r>
                      <a:endParaRPr sz="3200"/>
                    </a:p>
                  </a:txBody>
                  <a:tcPr marL="28575" marR="28575" marT="19050" marB="19050" anchor="ctr">
                    <a:lnL w="28575" cap="flat" cmpd="sng">
                      <a:solidFill>
                        <a:srgbClr val="000000"/>
                      </a:solidFill>
                      <a:prstDash val="solid"/>
                      <a:round/>
                      <a:headEnd type="none" w="sm" len="sm"/>
                      <a:tailEnd type="none" w="sm" len="sm"/>
                    </a:lnL>
                    <a:lnR w="28575" cap="flat" cmpd="sng" algn="ctr">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lgn="ctr">
                      <a:solidFill>
                        <a:srgbClr val="000000"/>
                      </a:solidFill>
                      <a:prstDash val="solid"/>
                      <a:round/>
                      <a:headEnd type="none" w="sm" len="sm"/>
                      <a:tailEnd type="none" w="sm" len="sm"/>
                    </a:lnB>
                    <a:solidFill>
                      <a:srgbClr val="B6D7A8"/>
                    </a:solidFill>
                  </a:tcPr>
                </a:tc>
                <a:tc>
                  <a:txBody>
                    <a:bodyPr/>
                    <a:lstStyle/>
                    <a:p>
                      <a:pPr marL="0" lvl="0" indent="0" algn="ctr" rtl="0">
                        <a:lnSpc>
                          <a:spcPct val="115000"/>
                        </a:lnSpc>
                        <a:spcBef>
                          <a:spcPts val="0"/>
                        </a:spcBef>
                        <a:spcAft>
                          <a:spcPts val="0"/>
                        </a:spcAft>
                        <a:buNone/>
                      </a:pPr>
                      <a:r>
                        <a:rPr lang="en-GB"/>
                        <a:t>Cells and their structures</a:t>
                      </a:r>
                      <a:endParaRPr/>
                    </a:p>
                  </a:txBody>
                  <a:tcPr marL="28575" marR="28575" marT="19050" marB="19050" anchor="ctr">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692679">
                <a:tc vMerge="1">
                  <a:txBody>
                    <a:bodyPr/>
                    <a:lstStyle/>
                    <a:p>
                      <a:endParaRPr lang="en-US"/>
                    </a:p>
                  </a:txBody>
                  <a:tcPr/>
                </a:tc>
                <a:tc>
                  <a:txBody>
                    <a:bodyPr/>
                    <a:lstStyle/>
                    <a:p>
                      <a:pPr marL="0" lvl="0" indent="0" algn="ctr" rtl="0">
                        <a:lnSpc>
                          <a:spcPct val="115000"/>
                        </a:lnSpc>
                        <a:spcBef>
                          <a:spcPts val="0"/>
                        </a:spcBef>
                        <a:spcAft>
                          <a:spcPts val="0"/>
                        </a:spcAft>
                        <a:buNone/>
                      </a:pPr>
                      <a:r>
                        <a:rPr lang="en-GB"/>
                        <a:t>Microscopy</a:t>
                      </a:r>
                      <a:endParaRPr/>
                    </a:p>
                  </a:txBody>
                  <a:tcPr marL="28575" marR="28575" marT="19050" marB="19050" anchor="ctr">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94240">
                <a:tc vMerge="1">
                  <a:txBody>
                    <a:bodyPr/>
                    <a:lstStyle/>
                    <a:p>
                      <a:endParaRPr lang="en-US"/>
                    </a:p>
                  </a:txBody>
                  <a:tcPr/>
                </a:tc>
                <a:tc>
                  <a:txBody>
                    <a:bodyPr/>
                    <a:lstStyle/>
                    <a:p>
                      <a:pPr marL="0" lvl="0" indent="0" algn="ctr" rtl="0">
                        <a:lnSpc>
                          <a:spcPct val="115000"/>
                        </a:lnSpc>
                        <a:spcBef>
                          <a:spcPts val="0"/>
                        </a:spcBef>
                        <a:spcAft>
                          <a:spcPts val="0"/>
                        </a:spcAft>
                        <a:buNone/>
                      </a:pPr>
                      <a:r>
                        <a:rPr lang="en-GB"/>
                        <a:t>Enzymes</a:t>
                      </a:r>
                      <a:endParaRPr/>
                    </a:p>
                  </a:txBody>
                  <a:tcPr marL="28575" marR="28575" marT="19050" marB="19050" anchor="ctr">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92679">
                <a:tc vMerge="1">
                  <a:txBody>
                    <a:bodyPr/>
                    <a:lstStyle/>
                    <a:p>
                      <a:endParaRPr lang="en-US"/>
                    </a:p>
                  </a:txBody>
                  <a:tcPr/>
                </a:tc>
                <a:tc>
                  <a:txBody>
                    <a:bodyPr/>
                    <a:lstStyle/>
                    <a:p>
                      <a:pPr marL="0" lvl="0" indent="0" algn="ctr" rtl="0">
                        <a:lnSpc>
                          <a:spcPct val="115000"/>
                        </a:lnSpc>
                        <a:spcBef>
                          <a:spcPts val="0"/>
                        </a:spcBef>
                        <a:spcAft>
                          <a:spcPts val="0"/>
                        </a:spcAft>
                        <a:buNone/>
                      </a:pPr>
                      <a:r>
                        <a:rPr lang="en-GB"/>
                        <a:t>Respiration</a:t>
                      </a:r>
                      <a:endParaRPr/>
                    </a:p>
                  </a:txBody>
                  <a:tcPr marL="28575" marR="28575" marT="19050" marB="19050" anchor="ctr">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692679">
                <a:tc vMerge="1">
                  <a:txBody>
                    <a:bodyPr/>
                    <a:lstStyle/>
                    <a:p>
                      <a:endParaRPr lang="en-US"/>
                    </a:p>
                  </a:txBody>
                  <a:tcPr/>
                </a:tc>
                <a:tc>
                  <a:txBody>
                    <a:bodyPr/>
                    <a:lstStyle/>
                    <a:p>
                      <a:pPr marL="0" lvl="0" indent="0" algn="ctr" rtl="0">
                        <a:lnSpc>
                          <a:spcPct val="115000"/>
                        </a:lnSpc>
                        <a:spcBef>
                          <a:spcPts val="0"/>
                        </a:spcBef>
                        <a:spcAft>
                          <a:spcPts val="0"/>
                        </a:spcAft>
                        <a:buNone/>
                      </a:pPr>
                      <a:r>
                        <a:rPr lang="en-GB"/>
                        <a:t>Photosynthesis</a:t>
                      </a:r>
                      <a:endParaRPr/>
                    </a:p>
                  </a:txBody>
                  <a:tcPr marL="28575" marR="28575" marT="19050" marB="19050" anchor="ctr">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692679">
                <a:tc vMerge="1">
                  <a:txBody>
                    <a:bodyPr/>
                    <a:lstStyle/>
                    <a:p>
                      <a:pPr marL="0" lvl="0" indent="0" algn="ctr" rtl="0">
                        <a:lnSpc>
                          <a:spcPct val="115000"/>
                        </a:lnSpc>
                        <a:spcBef>
                          <a:spcPts val="0"/>
                        </a:spcBef>
                        <a:spcAft>
                          <a:spcPts val="0"/>
                        </a:spcAft>
                        <a:buNone/>
                      </a:pPr>
                      <a:endParaRPr sz="2400"/>
                    </a:p>
                  </a:txBody>
                  <a:tcPr marL="28575" marR="28575" marT="19050" marB="19050" anchor="ctr">
                    <a:lnL w="28575" cap="flat" cmpd="sng">
                      <a:solidFill>
                        <a:srgbClr val="000000"/>
                      </a:solidFill>
                      <a:prstDash val="solid"/>
                      <a:round/>
                      <a:headEnd type="none" w="sm" len="sm"/>
                      <a:tailEnd type="none" w="sm" len="sm"/>
                    </a:lnL>
                    <a:lnR w="28575" cap="flat" cmpd="sng" algn="ctr">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solidFill>
                      <a:srgbClr val="B6D7A8"/>
                    </a:solidFill>
                  </a:tcPr>
                </a:tc>
                <a:tc>
                  <a:txBody>
                    <a:bodyPr/>
                    <a:lstStyle/>
                    <a:p>
                      <a:pPr marL="0" lvl="0" indent="0" algn="ctr" rtl="0">
                        <a:lnSpc>
                          <a:spcPct val="115000"/>
                        </a:lnSpc>
                        <a:spcBef>
                          <a:spcPts val="0"/>
                        </a:spcBef>
                        <a:spcAft>
                          <a:spcPts val="0"/>
                        </a:spcAft>
                        <a:buNone/>
                      </a:pPr>
                      <a:r>
                        <a:rPr lang="en-US"/>
                        <a:t>Investigative skills</a:t>
                      </a:r>
                      <a:endParaRPr/>
                    </a:p>
                  </a:txBody>
                  <a:tcPr marL="28575" marR="28575" marT="19050" marB="19050" anchor="ctr">
                    <a:lnL w="28575" cap="flat" cmpd="sng" algn="ctr">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extLst>
                  <a:ext uri="{0D108BD9-81ED-4DB2-BD59-A6C34878D82A}">
                    <a16:rowId xmlns:a16="http://schemas.microsoft.com/office/drawing/2014/main" val="503821317"/>
                  </a:ext>
                </a:extLst>
              </a:tr>
            </a:tbl>
          </a:graphicData>
        </a:graphic>
      </p:graphicFrame>
    </p:spTree>
    <p:extLst>
      <p:ext uri="{BB962C8B-B14F-4D97-AF65-F5344CB8AC3E}">
        <p14:creationId xmlns:p14="http://schemas.microsoft.com/office/powerpoint/2010/main" val="168088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1"/>
          <p:cNvSpPr txBox="1">
            <a:spLocks noGrp="1"/>
          </p:cNvSpPr>
          <p:nvPr>
            <p:ph type="title"/>
          </p:nvPr>
        </p:nvSpPr>
        <p:spPr>
          <a:xfrm>
            <a:off x="311700" y="0"/>
            <a:ext cx="8520600" cy="80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600"/>
              <a:t>Biology 1 (B1) Topics </a:t>
            </a:r>
            <a:endParaRPr sz="3600"/>
          </a:p>
        </p:txBody>
      </p:sp>
      <p:graphicFrame>
        <p:nvGraphicFramePr>
          <p:cNvPr id="106" name="Google Shape;106;p21"/>
          <p:cNvGraphicFramePr/>
          <p:nvPr/>
        </p:nvGraphicFramePr>
        <p:xfrm>
          <a:off x="1446636" y="801000"/>
          <a:ext cx="6250727" cy="4244734"/>
        </p:xfrm>
        <a:graphic>
          <a:graphicData uri="http://schemas.openxmlformats.org/drawingml/2006/table">
            <a:tbl>
              <a:tblPr>
                <a:noFill/>
                <a:tableStyleId>{CBE95525-7168-4340-89B2-6C4197B15BE8}</a:tableStyleId>
              </a:tblPr>
              <a:tblGrid>
                <a:gridCol w="1367474">
                  <a:extLst>
                    <a:ext uri="{9D8B030D-6E8A-4147-A177-3AD203B41FA5}">
                      <a16:colId xmlns:a16="http://schemas.microsoft.com/office/drawing/2014/main" val="20000"/>
                    </a:ext>
                  </a:extLst>
                </a:gridCol>
                <a:gridCol w="4883253">
                  <a:extLst>
                    <a:ext uri="{9D8B030D-6E8A-4147-A177-3AD203B41FA5}">
                      <a16:colId xmlns:a16="http://schemas.microsoft.com/office/drawing/2014/main" val="20001"/>
                    </a:ext>
                  </a:extLst>
                </a:gridCol>
              </a:tblGrid>
              <a:tr h="287099">
                <a:tc>
                  <a:txBody>
                    <a:bodyPr/>
                    <a:lstStyle/>
                    <a:p>
                      <a:pPr marL="0" lvl="0" indent="0" algn="ctr" rtl="0">
                        <a:lnSpc>
                          <a:spcPct val="115000"/>
                        </a:lnSpc>
                        <a:spcBef>
                          <a:spcPts val="0"/>
                        </a:spcBef>
                        <a:spcAft>
                          <a:spcPts val="0"/>
                        </a:spcAft>
                        <a:buNone/>
                      </a:pPr>
                      <a:r>
                        <a:rPr lang="en-GB" sz="1400" b="1"/>
                        <a:t>Unit</a:t>
                      </a:r>
                      <a:endParaRPr sz="1400" b="1"/>
                    </a:p>
                  </a:txBody>
                  <a:tcPr marL="28575" marR="28575" marT="19050" marB="19050" anchor="b">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solidFill>
                      <a:srgbClr val="D9D9D9"/>
                    </a:solidFill>
                  </a:tcPr>
                </a:tc>
                <a:tc>
                  <a:txBody>
                    <a:bodyPr/>
                    <a:lstStyle/>
                    <a:p>
                      <a:pPr marL="0" lvl="0" indent="0" algn="ctr" rtl="0">
                        <a:lnSpc>
                          <a:spcPct val="115000"/>
                        </a:lnSpc>
                        <a:spcBef>
                          <a:spcPts val="0"/>
                        </a:spcBef>
                        <a:spcAft>
                          <a:spcPts val="0"/>
                        </a:spcAft>
                        <a:buNone/>
                      </a:pPr>
                      <a:r>
                        <a:rPr lang="en-GB" sz="1400" b="1"/>
                        <a:t>Topic</a:t>
                      </a:r>
                      <a:endParaRPr sz="1400" b="1"/>
                    </a:p>
                  </a:txBody>
                  <a:tcPr marL="28575" marR="28575" marT="19050" marB="19050" anchor="b">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solidFill>
                      <a:srgbClr val="D9D9D9"/>
                    </a:solidFill>
                  </a:tcPr>
                </a:tc>
                <a:extLst>
                  <a:ext uri="{0D108BD9-81ED-4DB2-BD59-A6C34878D82A}">
                    <a16:rowId xmlns:a16="http://schemas.microsoft.com/office/drawing/2014/main" val="10000"/>
                  </a:ext>
                </a:extLst>
              </a:tr>
              <a:tr h="692679">
                <a:tc rowSpan="6">
                  <a:txBody>
                    <a:bodyPr/>
                    <a:lstStyle/>
                    <a:p>
                      <a:pPr marL="0" lvl="0" indent="0" algn="ctr" rtl="0">
                        <a:lnSpc>
                          <a:spcPct val="115000"/>
                        </a:lnSpc>
                        <a:spcBef>
                          <a:spcPts val="0"/>
                        </a:spcBef>
                        <a:spcAft>
                          <a:spcPts val="0"/>
                        </a:spcAft>
                        <a:buNone/>
                      </a:pPr>
                      <a:r>
                        <a:rPr lang="en-GB" sz="3200">
                          <a:solidFill>
                            <a:schemeClr val="accent1"/>
                          </a:solidFill>
                        </a:rPr>
                        <a:t>B1</a:t>
                      </a:r>
                      <a:endParaRPr sz="3200">
                        <a:solidFill>
                          <a:schemeClr val="accent1"/>
                        </a:solidFill>
                      </a:endParaRPr>
                    </a:p>
                  </a:txBody>
                  <a:tcPr marL="28575" marR="28575" marT="19050" marB="19050" anchor="ctr">
                    <a:lnL w="28575" cap="flat" cmpd="sng">
                      <a:solidFill>
                        <a:srgbClr val="000000"/>
                      </a:solidFill>
                      <a:prstDash val="solid"/>
                      <a:round/>
                      <a:headEnd type="none" w="sm" len="sm"/>
                      <a:tailEnd type="none" w="sm" len="sm"/>
                    </a:lnL>
                    <a:lnR w="28575" cap="flat" cmpd="sng" algn="ctr">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lgn="ctr">
                      <a:solidFill>
                        <a:srgbClr val="000000"/>
                      </a:solidFill>
                      <a:prstDash val="solid"/>
                      <a:round/>
                      <a:headEnd type="none" w="sm" len="sm"/>
                      <a:tailEnd type="none" w="sm" len="sm"/>
                    </a:lnB>
                    <a:solidFill>
                      <a:schemeClr val="bg1"/>
                    </a:solidFill>
                  </a:tcPr>
                </a:tc>
                <a:tc>
                  <a:txBody>
                    <a:bodyPr/>
                    <a:lstStyle/>
                    <a:p>
                      <a:pPr marL="0" lvl="0" indent="0" algn="ctr" rtl="0">
                        <a:lnSpc>
                          <a:spcPct val="115000"/>
                        </a:lnSpc>
                        <a:spcBef>
                          <a:spcPts val="0"/>
                        </a:spcBef>
                        <a:spcAft>
                          <a:spcPts val="0"/>
                        </a:spcAft>
                        <a:buNone/>
                      </a:pPr>
                      <a:r>
                        <a:rPr lang="en-GB"/>
                        <a:t>Cells and their structures</a:t>
                      </a:r>
                      <a:endParaRPr/>
                    </a:p>
                  </a:txBody>
                  <a:tcPr marL="28575" marR="28575" marT="19050" marB="19050" anchor="ctr">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solidFill>
                      <a:srgbClr val="FF0000"/>
                    </a:solidFill>
                  </a:tcPr>
                </a:tc>
                <a:extLst>
                  <a:ext uri="{0D108BD9-81ED-4DB2-BD59-A6C34878D82A}">
                    <a16:rowId xmlns:a16="http://schemas.microsoft.com/office/drawing/2014/main" val="10001"/>
                  </a:ext>
                </a:extLst>
              </a:tr>
              <a:tr h="692679">
                <a:tc vMerge="1">
                  <a:txBody>
                    <a:bodyPr/>
                    <a:lstStyle/>
                    <a:p>
                      <a:endParaRPr lang="en-US"/>
                    </a:p>
                  </a:txBody>
                  <a:tcPr/>
                </a:tc>
                <a:tc>
                  <a:txBody>
                    <a:bodyPr/>
                    <a:lstStyle/>
                    <a:p>
                      <a:pPr marL="0" lvl="0" indent="0" algn="ctr" rtl="0">
                        <a:lnSpc>
                          <a:spcPct val="115000"/>
                        </a:lnSpc>
                        <a:spcBef>
                          <a:spcPts val="0"/>
                        </a:spcBef>
                        <a:spcAft>
                          <a:spcPts val="0"/>
                        </a:spcAft>
                        <a:buNone/>
                      </a:pPr>
                      <a:r>
                        <a:rPr lang="en-GB"/>
                        <a:t>Microscopy</a:t>
                      </a:r>
                      <a:endParaRPr/>
                    </a:p>
                  </a:txBody>
                  <a:tcPr marL="28575" marR="28575" marT="19050" marB="19050" anchor="ctr">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solidFill>
                      <a:srgbClr val="FFC000"/>
                    </a:solidFill>
                  </a:tcPr>
                </a:tc>
                <a:extLst>
                  <a:ext uri="{0D108BD9-81ED-4DB2-BD59-A6C34878D82A}">
                    <a16:rowId xmlns:a16="http://schemas.microsoft.com/office/drawing/2014/main" val="10002"/>
                  </a:ext>
                </a:extLst>
              </a:tr>
              <a:tr h="494240">
                <a:tc vMerge="1">
                  <a:txBody>
                    <a:bodyPr/>
                    <a:lstStyle/>
                    <a:p>
                      <a:endParaRPr lang="en-US"/>
                    </a:p>
                  </a:txBody>
                  <a:tcPr/>
                </a:tc>
                <a:tc>
                  <a:txBody>
                    <a:bodyPr/>
                    <a:lstStyle/>
                    <a:p>
                      <a:pPr marL="0" lvl="0" indent="0" algn="ctr" rtl="0">
                        <a:lnSpc>
                          <a:spcPct val="115000"/>
                        </a:lnSpc>
                        <a:spcBef>
                          <a:spcPts val="0"/>
                        </a:spcBef>
                        <a:spcAft>
                          <a:spcPts val="0"/>
                        </a:spcAft>
                        <a:buNone/>
                      </a:pPr>
                      <a:r>
                        <a:rPr lang="en-GB"/>
                        <a:t>Enzymes</a:t>
                      </a:r>
                      <a:endParaRPr/>
                    </a:p>
                  </a:txBody>
                  <a:tcPr marL="28575" marR="28575" marT="19050" marB="19050" anchor="ctr">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solidFill>
                      <a:srgbClr val="FFFF00"/>
                    </a:solidFill>
                  </a:tcPr>
                </a:tc>
                <a:extLst>
                  <a:ext uri="{0D108BD9-81ED-4DB2-BD59-A6C34878D82A}">
                    <a16:rowId xmlns:a16="http://schemas.microsoft.com/office/drawing/2014/main" val="10003"/>
                  </a:ext>
                </a:extLst>
              </a:tr>
              <a:tr h="692679">
                <a:tc vMerge="1">
                  <a:txBody>
                    <a:bodyPr/>
                    <a:lstStyle/>
                    <a:p>
                      <a:endParaRPr lang="en-US"/>
                    </a:p>
                  </a:txBody>
                  <a:tcPr/>
                </a:tc>
                <a:tc>
                  <a:txBody>
                    <a:bodyPr/>
                    <a:lstStyle/>
                    <a:p>
                      <a:pPr marL="0" lvl="0" indent="0" algn="ctr" rtl="0">
                        <a:lnSpc>
                          <a:spcPct val="115000"/>
                        </a:lnSpc>
                        <a:spcBef>
                          <a:spcPts val="0"/>
                        </a:spcBef>
                        <a:spcAft>
                          <a:spcPts val="0"/>
                        </a:spcAft>
                        <a:buNone/>
                      </a:pPr>
                      <a:r>
                        <a:rPr lang="en-GB"/>
                        <a:t>Respiration</a:t>
                      </a:r>
                      <a:endParaRPr/>
                    </a:p>
                  </a:txBody>
                  <a:tcPr marL="28575" marR="28575" marT="19050" marB="19050" anchor="ctr">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solidFill>
                      <a:srgbClr val="00B050"/>
                    </a:solidFill>
                  </a:tcPr>
                </a:tc>
                <a:extLst>
                  <a:ext uri="{0D108BD9-81ED-4DB2-BD59-A6C34878D82A}">
                    <a16:rowId xmlns:a16="http://schemas.microsoft.com/office/drawing/2014/main" val="10004"/>
                  </a:ext>
                </a:extLst>
              </a:tr>
              <a:tr h="692679">
                <a:tc vMerge="1">
                  <a:txBody>
                    <a:bodyPr/>
                    <a:lstStyle/>
                    <a:p>
                      <a:endParaRPr lang="en-US"/>
                    </a:p>
                  </a:txBody>
                  <a:tcPr/>
                </a:tc>
                <a:tc>
                  <a:txBody>
                    <a:bodyPr/>
                    <a:lstStyle/>
                    <a:p>
                      <a:pPr marL="0" lvl="0" indent="0" algn="ctr" rtl="0">
                        <a:lnSpc>
                          <a:spcPct val="115000"/>
                        </a:lnSpc>
                        <a:spcBef>
                          <a:spcPts val="0"/>
                        </a:spcBef>
                        <a:spcAft>
                          <a:spcPts val="0"/>
                        </a:spcAft>
                        <a:buNone/>
                      </a:pPr>
                      <a:r>
                        <a:rPr lang="en-GB"/>
                        <a:t>Photosynthesis</a:t>
                      </a:r>
                      <a:endParaRPr/>
                    </a:p>
                  </a:txBody>
                  <a:tcPr marL="28575" marR="28575" marT="19050" marB="19050" anchor="ctr">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lgn="ctr">
                      <a:solidFill>
                        <a:srgbClr val="000000"/>
                      </a:solidFill>
                      <a:prstDash val="solid"/>
                      <a:round/>
                      <a:headEnd type="none" w="sm" len="sm"/>
                      <a:tailEnd type="none" w="sm" len="sm"/>
                    </a:lnB>
                    <a:solidFill>
                      <a:srgbClr val="00B0F0"/>
                    </a:solidFill>
                  </a:tcPr>
                </a:tc>
                <a:extLst>
                  <a:ext uri="{0D108BD9-81ED-4DB2-BD59-A6C34878D82A}">
                    <a16:rowId xmlns:a16="http://schemas.microsoft.com/office/drawing/2014/main" val="10005"/>
                  </a:ext>
                </a:extLst>
              </a:tr>
              <a:tr h="692679">
                <a:tc vMerge="1">
                  <a:txBody>
                    <a:bodyPr/>
                    <a:lstStyle/>
                    <a:p>
                      <a:pPr marL="0" lvl="0" indent="0" algn="ctr" rtl="0">
                        <a:lnSpc>
                          <a:spcPct val="115000"/>
                        </a:lnSpc>
                        <a:spcBef>
                          <a:spcPts val="0"/>
                        </a:spcBef>
                        <a:spcAft>
                          <a:spcPts val="0"/>
                        </a:spcAft>
                        <a:buNone/>
                      </a:pPr>
                      <a:endParaRPr sz="2400"/>
                    </a:p>
                  </a:txBody>
                  <a:tcPr marL="28575" marR="28575" marT="19050" marB="19050" anchor="ctr">
                    <a:lnL w="28575" cap="flat" cmpd="sng">
                      <a:solidFill>
                        <a:srgbClr val="000000"/>
                      </a:solidFill>
                      <a:prstDash val="solid"/>
                      <a:round/>
                      <a:headEnd type="none" w="sm" len="sm"/>
                      <a:tailEnd type="none" w="sm" len="sm"/>
                    </a:lnL>
                    <a:lnR w="28575" cap="flat" cmpd="sng" algn="ctr">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solidFill>
                      <a:srgbClr val="B6D7A8"/>
                    </a:solidFill>
                  </a:tcPr>
                </a:tc>
                <a:tc>
                  <a:txBody>
                    <a:bodyPr/>
                    <a:lstStyle/>
                    <a:p>
                      <a:pPr marL="0" lvl="0" indent="0" algn="ctr" rtl="0">
                        <a:lnSpc>
                          <a:spcPct val="115000"/>
                        </a:lnSpc>
                        <a:spcBef>
                          <a:spcPts val="0"/>
                        </a:spcBef>
                        <a:spcAft>
                          <a:spcPts val="0"/>
                        </a:spcAft>
                        <a:buNone/>
                      </a:pPr>
                      <a:r>
                        <a:rPr lang="en-US"/>
                        <a:t>Investigative skills</a:t>
                      </a:r>
                      <a:endParaRPr/>
                    </a:p>
                  </a:txBody>
                  <a:tcPr marL="28575" marR="28575" marT="19050" marB="19050" anchor="ctr">
                    <a:lnL w="28575" cap="flat" cmpd="sng" algn="ctr">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solidFill>
                      <a:schemeClr val="accent4">
                        <a:lumMod val="40000"/>
                        <a:lumOff val="60000"/>
                      </a:schemeClr>
                    </a:solidFill>
                  </a:tcPr>
                </a:tc>
                <a:extLst>
                  <a:ext uri="{0D108BD9-81ED-4DB2-BD59-A6C34878D82A}">
                    <a16:rowId xmlns:a16="http://schemas.microsoft.com/office/drawing/2014/main" val="503821317"/>
                  </a:ext>
                </a:extLst>
              </a:tr>
            </a:tbl>
          </a:graphicData>
        </a:graphic>
      </p:graphicFrame>
    </p:spTree>
    <p:extLst>
      <p:ext uri="{BB962C8B-B14F-4D97-AF65-F5344CB8AC3E}">
        <p14:creationId xmlns:p14="http://schemas.microsoft.com/office/powerpoint/2010/main" val="4155692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graphicFrame>
        <p:nvGraphicFramePr>
          <p:cNvPr id="110" name="Google Shape;110;p22"/>
          <p:cNvGraphicFramePr/>
          <p:nvPr>
            <p:extLst>
              <p:ext uri="{D42A27DB-BD31-4B8C-83A1-F6EECF244321}">
                <p14:modId xmlns:p14="http://schemas.microsoft.com/office/powerpoint/2010/main" val="1076652760"/>
              </p:ext>
            </p:extLst>
          </p:nvPr>
        </p:nvGraphicFramePr>
        <p:xfrm>
          <a:off x="0" y="1"/>
          <a:ext cx="9144025" cy="5177333"/>
        </p:xfrm>
        <a:graphic>
          <a:graphicData uri="http://schemas.openxmlformats.org/drawingml/2006/table">
            <a:tbl>
              <a:tblPr>
                <a:noFill/>
              </a:tblPr>
              <a:tblGrid>
                <a:gridCol w="1499125">
                  <a:extLst>
                    <a:ext uri="{9D8B030D-6E8A-4147-A177-3AD203B41FA5}">
                      <a16:colId xmlns:a16="http://schemas.microsoft.com/office/drawing/2014/main" val="20000"/>
                    </a:ext>
                  </a:extLst>
                </a:gridCol>
                <a:gridCol w="1499125">
                  <a:extLst>
                    <a:ext uri="{9D8B030D-6E8A-4147-A177-3AD203B41FA5}">
                      <a16:colId xmlns:a16="http://schemas.microsoft.com/office/drawing/2014/main" val="20001"/>
                    </a:ext>
                  </a:extLst>
                </a:gridCol>
                <a:gridCol w="1499125">
                  <a:extLst>
                    <a:ext uri="{9D8B030D-6E8A-4147-A177-3AD203B41FA5}">
                      <a16:colId xmlns:a16="http://schemas.microsoft.com/office/drawing/2014/main" val="20002"/>
                    </a:ext>
                  </a:extLst>
                </a:gridCol>
                <a:gridCol w="1499125">
                  <a:extLst>
                    <a:ext uri="{9D8B030D-6E8A-4147-A177-3AD203B41FA5}">
                      <a16:colId xmlns:a16="http://schemas.microsoft.com/office/drawing/2014/main" val="20003"/>
                    </a:ext>
                  </a:extLst>
                </a:gridCol>
                <a:gridCol w="1499125">
                  <a:extLst>
                    <a:ext uri="{9D8B030D-6E8A-4147-A177-3AD203B41FA5}">
                      <a16:colId xmlns:a16="http://schemas.microsoft.com/office/drawing/2014/main" val="20004"/>
                    </a:ext>
                  </a:extLst>
                </a:gridCol>
                <a:gridCol w="1648400">
                  <a:extLst>
                    <a:ext uri="{9D8B030D-6E8A-4147-A177-3AD203B41FA5}">
                      <a16:colId xmlns:a16="http://schemas.microsoft.com/office/drawing/2014/main" val="20005"/>
                    </a:ext>
                  </a:extLst>
                </a:gridCol>
              </a:tblGrid>
              <a:tr h="974121">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b="0" i="0" u="none" strike="noStrike" cap="none">
                          <a:solidFill>
                            <a:schemeClr val="accent1"/>
                          </a:solidFill>
                          <a:latin typeface="+mn-lt"/>
                          <a:ea typeface="+mn-ea"/>
                          <a:cs typeface="+mn-cs"/>
                          <a:sym typeface="Arial"/>
                        </a:rPr>
                        <a:t>Organelle</a:t>
                      </a:r>
                    </a:p>
                  </a:txBody>
                  <a:tcPr marL="91425" marR="91425" marT="91425" marB="91425" anchor="ctr">
                    <a:lnL w="19050" cap="flat" cmpd="sng">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GB" sz="1600">
                          <a:solidFill>
                            <a:schemeClr val="accent1"/>
                          </a:solidFill>
                        </a:rPr>
                        <a:t>Cell</a:t>
                      </a:r>
                      <a:endParaRPr sz="1600">
                        <a:solidFill>
                          <a:schemeClr val="accent1"/>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GB" sz="1600">
                          <a:solidFill>
                            <a:schemeClr val="accent1"/>
                          </a:solidFill>
                        </a:rPr>
                        <a:t>Tissue</a:t>
                      </a:r>
                      <a:endParaRPr sz="1600">
                        <a:solidFill>
                          <a:schemeClr val="accent1"/>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GB" sz="1600">
                          <a:solidFill>
                            <a:schemeClr val="accent1"/>
                          </a:solidFill>
                        </a:rPr>
                        <a:t>Organ</a:t>
                      </a:r>
                      <a:endParaRPr sz="1600">
                        <a:solidFill>
                          <a:schemeClr val="accent1"/>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GB" sz="1600">
                          <a:solidFill>
                            <a:schemeClr val="accent1"/>
                          </a:solidFill>
                        </a:rPr>
                        <a:t>Organ system</a:t>
                      </a:r>
                      <a:endParaRPr sz="1600">
                        <a:solidFill>
                          <a:schemeClr val="accent1"/>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US" sz="1600">
                          <a:solidFill>
                            <a:schemeClr val="accent1"/>
                          </a:solidFill>
                        </a:rPr>
                        <a:t>Prokaryotic / Eukaryotic Organism</a:t>
                      </a:r>
                      <a:endParaRPr sz="1600">
                        <a:solidFill>
                          <a:schemeClr val="accent1"/>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solidFill>
                      <a:srgbClr val="FF0000"/>
                    </a:solidFill>
                  </a:tcPr>
                </a:tc>
                <a:extLst>
                  <a:ext uri="{0D108BD9-81ED-4DB2-BD59-A6C34878D82A}">
                    <a16:rowId xmlns:a16="http://schemas.microsoft.com/office/drawing/2014/main" val="10000"/>
                  </a:ext>
                </a:extLst>
              </a:tr>
              <a:tr h="974121">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600">
                          <a:solidFill>
                            <a:schemeClr val="accent1"/>
                          </a:solidFill>
                        </a:rPr>
                        <a:t>Resolution / magnification / microscopy</a:t>
                      </a:r>
                    </a:p>
                  </a:txBody>
                  <a:tcPr marL="91425" marR="91425" marT="91425" marB="91425" anchor="ctr">
                    <a:lnL w="19050" cap="flat" cmpd="sng">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C000"/>
                    </a:solidFill>
                  </a:tcPr>
                </a:tc>
                <a:tc>
                  <a:txBody>
                    <a:bodyPr/>
                    <a:lstStyle/>
                    <a:p>
                      <a:pPr marL="0" lvl="0" indent="0" algn="ctr" rtl="0">
                        <a:spcBef>
                          <a:spcPts val="0"/>
                        </a:spcBef>
                        <a:spcAft>
                          <a:spcPts val="0"/>
                        </a:spcAft>
                        <a:buNone/>
                      </a:pPr>
                      <a:r>
                        <a:rPr lang="en-GB" sz="1600">
                          <a:solidFill>
                            <a:schemeClr val="accent1"/>
                          </a:solidFill>
                        </a:rPr>
                        <a:t>Nucleus</a:t>
                      </a:r>
                    </a:p>
                  </a:txBody>
                  <a:tcPr marL="91425" marR="91425" marT="91425" marB="91425" anchor="ctr">
                    <a:lnL w="19050" cap="flat" cmpd="sng">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US" sz="1600" b="0" i="0" u="none" strike="noStrike" cap="none">
                          <a:solidFill>
                            <a:schemeClr val="accent1"/>
                          </a:solidFill>
                          <a:latin typeface="+mn-lt"/>
                          <a:ea typeface="+mn-ea"/>
                          <a:cs typeface="+mn-cs"/>
                          <a:sym typeface="Arial"/>
                        </a:rPr>
                        <a:t>Cytoplasm</a:t>
                      </a:r>
                      <a:endParaRPr sz="1600" b="0" i="0" u="none" strike="noStrike" cap="none">
                        <a:solidFill>
                          <a:schemeClr val="accent1"/>
                        </a:solidFill>
                        <a:latin typeface="+mn-lt"/>
                        <a:ea typeface="+mn-ea"/>
                        <a:cs typeface="+mn-cs"/>
                        <a:sym typeface="Arial"/>
                      </a:endParaRPr>
                    </a:p>
                  </a:txBody>
                  <a:tcPr marL="91425" marR="91425" marT="91425" marB="91425" anchor="ctr">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0000"/>
                    </a:solidFill>
                  </a:tcPr>
                </a:tc>
                <a:tc>
                  <a:txBody>
                    <a:bodyPr/>
                    <a:lstStyle/>
                    <a:p>
                      <a:pPr algn="ctr"/>
                      <a:r>
                        <a:rPr lang="en-GB">
                          <a:solidFill>
                            <a:schemeClr val="accent1"/>
                          </a:solidFill>
                        </a:rPr>
                        <a:t>Mitochondria</a:t>
                      </a:r>
                    </a:p>
                  </a:txBody>
                  <a:tcPr marL="91425" marR="91425" marT="91425" marB="91425" anchor="ctr">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GB" sz="1600" b="0" i="0" u="none" strike="noStrike" cap="none">
                          <a:solidFill>
                            <a:schemeClr val="accent1"/>
                          </a:solidFill>
                          <a:latin typeface="+mn-lt"/>
                          <a:ea typeface="+mn-ea"/>
                          <a:cs typeface="+mn-cs"/>
                          <a:sym typeface="Arial"/>
                        </a:rPr>
                        <a:t>Chloroplast </a:t>
                      </a:r>
                      <a:endParaRPr sz="1600" b="0" i="0" u="none" strike="noStrike" cap="none">
                        <a:solidFill>
                          <a:schemeClr val="accent1"/>
                        </a:solidFill>
                        <a:latin typeface="+mn-lt"/>
                        <a:ea typeface="+mn-ea"/>
                        <a:cs typeface="+mn-cs"/>
                        <a:sym typeface="Arial"/>
                      </a:endParaRPr>
                    </a:p>
                  </a:txBody>
                  <a:tcPr marL="91425" marR="91425" marT="91425" marB="91425" anchor="ctr">
                    <a:lnL w="19050" cap="flat" cmpd="sng">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GB" sz="1600" b="0" i="0" u="none" strike="noStrike" cap="none">
                          <a:solidFill>
                            <a:schemeClr val="accent1"/>
                          </a:solidFill>
                          <a:latin typeface="+mn-lt"/>
                          <a:ea typeface="+mn-ea"/>
                          <a:cs typeface="+mn-cs"/>
                          <a:sym typeface="Arial"/>
                        </a:rPr>
                        <a:t>Cell membrane </a:t>
                      </a:r>
                      <a:endParaRPr sz="1600" b="0" i="0" u="none" strike="noStrike" cap="none">
                        <a:solidFill>
                          <a:schemeClr val="accent1"/>
                        </a:solidFill>
                        <a:latin typeface="+mn-lt"/>
                        <a:ea typeface="+mn-ea"/>
                        <a:cs typeface="+mn-cs"/>
                        <a:sym typeface="Arial"/>
                      </a:endParaRPr>
                    </a:p>
                  </a:txBody>
                  <a:tcPr marL="91425" marR="91425" marT="91425" marB="91425" anchor="ctr">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0000"/>
                    </a:solidFill>
                  </a:tcPr>
                </a:tc>
                <a:extLst>
                  <a:ext uri="{0D108BD9-81ED-4DB2-BD59-A6C34878D82A}">
                    <a16:rowId xmlns:a16="http://schemas.microsoft.com/office/drawing/2014/main" val="10001"/>
                  </a:ext>
                </a:extLst>
              </a:tr>
              <a:tr h="1096760">
                <a:tc>
                  <a:txBody>
                    <a:bodyPr/>
                    <a:lstStyle/>
                    <a:p>
                      <a:pPr marL="0" lvl="0" indent="0" algn="ctr" rtl="0">
                        <a:spcBef>
                          <a:spcPts val="0"/>
                        </a:spcBef>
                        <a:spcAft>
                          <a:spcPts val="0"/>
                        </a:spcAft>
                        <a:buNone/>
                      </a:pPr>
                      <a:r>
                        <a:rPr lang="en-GB" sz="1600">
                          <a:solidFill>
                            <a:schemeClr val="accent1"/>
                          </a:solidFill>
                        </a:rPr>
                        <a:t>Genes (‘like recipes’)</a:t>
                      </a: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GB" sz="1600">
                          <a:solidFill>
                            <a:schemeClr val="accent1"/>
                          </a:solidFill>
                        </a:rPr>
                        <a:t>Protein synthesis</a:t>
                      </a:r>
                    </a:p>
                  </a:txBody>
                  <a:tcPr marL="91425" marR="91425" marT="91425" marB="91425" anchor="ctr">
                    <a:lnL w="19050" cap="flat" cmpd="sng">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GB" sz="1600">
                          <a:solidFill>
                            <a:schemeClr val="accent1"/>
                          </a:solidFill>
                        </a:rPr>
                        <a:t>Metabolism &amp; Digestion</a:t>
                      </a: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00"/>
                    </a:solidFill>
                  </a:tcPr>
                </a:tc>
                <a:tc>
                  <a:txBody>
                    <a:bodyPr/>
                    <a:lstStyle/>
                    <a:p>
                      <a:pPr algn="ctr"/>
                      <a:r>
                        <a:rPr lang="en-GB" sz="1600" b="0" i="0" u="none" strike="noStrike" cap="none">
                          <a:solidFill>
                            <a:schemeClr val="accent1"/>
                          </a:solidFill>
                          <a:latin typeface="+mn-lt"/>
                          <a:ea typeface="+mn-ea"/>
                          <a:cs typeface="+mn-cs"/>
                          <a:sym typeface="Arial"/>
                        </a:rPr>
                        <a:t>Aerobic / Anaerobic Respiration</a:t>
                      </a: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2D050"/>
                    </a:solidFill>
                  </a:tcPr>
                </a:tc>
                <a:tc>
                  <a:txBody>
                    <a:bodyPr/>
                    <a:lstStyle/>
                    <a:p>
                      <a:pPr marL="0" lvl="0" indent="0" algn="ctr" rtl="0">
                        <a:spcBef>
                          <a:spcPts val="0"/>
                        </a:spcBef>
                        <a:spcAft>
                          <a:spcPts val="0"/>
                        </a:spcAft>
                        <a:buNone/>
                      </a:pPr>
                      <a:r>
                        <a:rPr lang="en-GB" sz="1400" b="0" i="0" u="none" strike="noStrike" cap="none">
                          <a:solidFill>
                            <a:schemeClr val="accent1"/>
                          </a:solidFill>
                          <a:latin typeface="+mn-lt"/>
                          <a:ea typeface="+mn-ea"/>
                          <a:cs typeface="+mn-cs"/>
                          <a:sym typeface="Arial"/>
                        </a:rPr>
                        <a:t>Photosynthesis</a:t>
                      </a:r>
                    </a:p>
                  </a:txBody>
                  <a:tcPr marL="91425" marR="91425" marT="91425" marB="91425" anchor="ctr">
                    <a:lnL w="19050" cap="flat" cmpd="sng">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0070C0"/>
                    </a:solidFill>
                  </a:tcPr>
                </a:tc>
                <a:tc>
                  <a:txBody>
                    <a:bodyPr/>
                    <a:lstStyle/>
                    <a:p>
                      <a:pPr marL="0" lvl="0" indent="0" algn="ctr" rtl="0">
                        <a:spcBef>
                          <a:spcPts val="0"/>
                        </a:spcBef>
                        <a:spcAft>
                          <a:spcPts val="0"/>
                        </a:spcAft>
                        <a:buNone/>
                      </a:pPr>
                      <a:r>
                        <a:rPr lang="en-US" sz="1600" b="0" i="0" u="none" strike="noStrike" cap="none">
                          <a:solidFill>
                            <a:schemeClr val="accent1"/>
                          </a:solidFill>
                          <a:latin typeface="+mn-lt"/>
                          <a:ea typeface="+mn-ea"/>
                          <a:cs typeface="+mn-cs"/>
                          <a:sym typeface="Arial"/>
                        </a:rPr>
                        <a:t>Measuring the rate of photosynthesis</a:t>
                      </a:r>
                      <a:endParaRPr sz="1600" b="0" i="0" u="none" strike="noStrike" cap="none">
                        <a:solidFill>
                          <a:schemeClr val="accent1"/>
                        </a:solidFill>
                        <a:latin typeface="+mn-lt"/>
                        <a:ea typeface="+mn-ea"/>
                        <a:cs typeface="+mn-cs"/>
                        <a:sym typeface="Arial"/>
                      </a:endParaRPr>
                    </a:p>
                  </a:txBody>
                  <a:tcPr marL="91425" marR="91425" marT="91425" marB="91425" anchor="ctr">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chemeClr val="accent4">
                        <a:lumMod val="40000"/>
                        <a:lumOff val="60000"/>
                      </a:schemeClr>
                    </a:solidFill>
                  </a:tcPr>
                </a:tc>
                <a:extLst>
                  <a:ext uri="{0D108BD9-81ED-4DB2-BD59-A6C34878D82A}">
                    <a16:rowId xmlns:a16="http://schemas.microsoft.com/office/drawing/2014/main" val="10002"/>
                  </a:ext>
                </a:extLst>
              </a:tr>
              <a:tr h="1124376">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200" b="1">
                          <a:solidFill>
                            <a:schemeClr val="accent1"/>
                          </a:solidFill>
                        </a:rPr>
                        <a:t>DNA</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200">
                          <a:solidFill>
                            <a:schemeClr val="accent1"/>
                          </a:solidFill>
                        </a:rPr>
                        <a:t>Double Helix / Sugar Phosphate backbone</a:t>
                      </a: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0000"/>
                    </a:solidFill>
                  </a:tcPr>
                </a:tc>
                <a:tc>
                  <a:txBody>
                    <a:bodyPr/>
                    <a:lstStyle/>
                    <a:p>
                      <a:pPr marL="0" marR="0" lvl="0" indent="0" algn="ctr" rtl="0">
                        <a:lnSpc>
                          <a:spcPct val="100000"/>
                        </a:lnSpc>
                        <a:spcBef>
                          <a:spcPts val="0"/>
                        </a:spcBef>
                        <a:spcAft>
                          <a:spcPts val="0"/>
                        </a:spcAft>
                        <a:buClr>
                          <a:srgbClr val="000000"/>
                        </a:buClr>
                        <a:buFont typeface="Arial"/>
                        <a:buNone/>
                      </a:pPr>
                      <a:r>
                        <a:rPr lang="en-US" sz="1600" b="0" i="0" u="none" strike="noStrike" cap="none">
                          <a:solidFill>
                            <a:schemeClr val="accent1"/>
                          </a:solidFill>
                          <a:latin typeface="+mn-lt"/>
                          <a:ea typeface="+mn-ea"/>
                          <a:cs typeface="+mn-cs"/>
                          <a:sym typeface="Arial"/>
                        </a:rPr>
                        <a:t>Lipase/ amylase/ protease</a:t>
                      </a:r>
                      <a:endParaRPr sz="1600" b="0" i="0" u="none" strike="noStrike" cap="none">
                        <a:solidFill>
                          <a:schemeClr val="accent1"/>
                        </a:solidFill>
                        <a:latin typeface="+mn-lt"/>
                        <a:ea typeface="+mn-ea"/>
                        <a:cs typeface="+mn-cs"/>
                        <a:sym typeface="Arial"/>
                      </a:endParaRPr>
                    </a:p>
                  </a:txBody>
                  <a:tcPr marL="91425" marR="91425" marT="91425" marB="91425" anchor="ctr">
                    <a:lnL w="19050" cap="flat" cmpd="sng">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00"/>
                    </a:solidFill>
                  </a:tcPr>
                </a:tc>
                <a:tc>
                  <a:txBody>
                    <a:bodyPr/>
                    <a:lstStyle/>
                    <a:p>
                      <a:pPr marL="0" marR="0" lvl="0" indent="0" algn="ctr" rtl="0">
                        <a:lnSpc>
                          <a:spcPct val="100000"/>
                        </a:lnSpc>
                        <a:spcBef>
                          <a:spcPts val="0"/>
                        </a:spcBef>
                        <a:spcAft>
                          <a:spcPts val="0"/>
                        </a:spcAft>
                        <a:buClr>
                          <a:srgbClr val="000000"/>
                        </a:buClr>
                        <a:buFont typeface="Arial"/>
                        <a:buNone/>
                      </a:pPr>
                      <a:r>
                        <a:rPr lang="en-GB" sz="1600" b="0" i="0" u="none" strike="noStrike" cap="none">
                          <a:solidFill>
                            <a:schemeClr val="accent1"/>
                          </a:solidFill>
                          <a:latin typeface="+mn-lt"/>
                          <a:ea typeface="+mn-ea"/>
                          <a:cs typeface="+mn-cs"/>
                          <a:sym typeface="Arial"/>
                        </a:rPr>
                        <a:t>Enzymes</a:t>
                      </a:r>
                      <a:endParaRPr sz="1600" b="0" i="0" u="none" strike="noStrike" cap="none">
                        <a:solidFill>
                          <a:schemeClr val="accent1"/>
                        </a:solidFill>
                        <a:latin typeface="+mn-lt"/>
                        <a:ea typeface="+mn-ea"/>
                        <a:cs typeface="+mn-cs"/>
                        <a:sym typeface="Aria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00"/>
                    </a:solidFill>
                  </a:tcPr>
                </a:tc>
                <a:tc>
                  <a:txBody>
                    <a:bodyPr/>
                    <a:lstStyle/>
                    <a:p>
                      <a:pPr marR="0" algn="ctr" rtl="0">
                        <a:lnSpc>
                          <a:spcPct val="100000"/>
                        </a:lnSpc>
                        <a:spcBef>
                          <a:spcPts val="0"/>
                        </a:spcBef>
                        <a:spcAft>
                          <a:spcPts val="0"/>
                        </a:spcAft>
                        <a:buClr>
                          <a:srgbClr val="000000"/>
                        </a:buClr>
                        <a:buFont typeface="Arial"/>
                      </a:pPr>
                      <a:r>
                        <a:rPr lang="en-GB" sz="1600" b="0" i="0" u="none" strike="noStrike" cap="none">
                          <a:solidFill>
                            <a:schemeClr val="accent1"/>
                          </a:solidFill>
                          <a:latin typeface="+mn-lt"/>
                          <a:ea typeface="+mn-ea"/>
                          <a:cs typeface="+mn-cs"/>
                          <a:sym typeface="Arial"/>
                        </a:rPr>
                        <a:t>ATP</a:t>
                      </a: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b="0" i="0" u="none" strike="noStrike" cap="none">
                          <a:solidFill>
                            <a:schemeClr val="accent1"/>
                          </a:solidFill>
                          <a:latin typeface="+mn-lt"/>
                          <a:ea typeface="+mn-ea"/>
                          <a:cs typeface="+mn-cs"/>
                          <a:sym typeface="Arial"/>
                        </a:rPr>
                        <a:t>Limiting factor e.g. Light intensity</a:t>
                      </a:r>
                    </a:p>
                  </a:txBody>
                  <a:tcPr marL="91425" marR="91425" marT="91425" marB="91425" anchor="ctr">
                    <a:lnL w="19050" cap="flat" cmpd="sng">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a:solidFill>
                            <a:schemeClr val="accent1"/>
                          </a:solidFill>
                        </a:rPr>
                        <a:t>Phenolphthalein indicator for fatty acids (lipid digestion)</a:t>
                      </a:r>
                    </a:p>
                  </a:txBody>
                  <a:tcPr marL="91425" marR="91425" marT="91425" marB="91425" anchor="ctr">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chemeClr val="accent4">
                        <a:lumMod val="40000"/>
                        <a:lumOff val="60000"/>
                      </a:schemeClr>
                    </a:solidFill>
                  </a:tcPr>
                </a:tc>
                <a:extLst>
                  <a:ext uri="{0D108BD9-81ED-4DB2-BD59-A6C34878D82A}">
                    <a16:rowId xmlns:a16="http://schemas.microsoft.com/office/drawing/2014/main" val="10003"/>
                  </a:ext>
                </a:extLst>
              </a:tr>
              <a:tr h="974121">
                <a:tc>
                  <a:txBody>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600" b="0" i="0" u="none" strike="noStrike" cap="none">
                          <a:solidFill>
                            <a:schemeClr val="accent1"/>
                          </a:solidFill>
                          <a:latin typeface="+mn-lt"/>
                          <a:ea typeface="+mn-ea"/>
                          <a:cs typeface="+mn-cs"/>
                          <a:sym typeface="Arial"/>
                        </a:rPr>
                        <a:t>Bases (A-T, C-G)</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endParaRPr lang="en-GB" sz="1600">
                        <a:solidFill>
                          <a:schemeClr val="accent1"/>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0000"/>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600" b="0" i="0" u="none" strike="noStrike" cap="none">
                          <a:solidFill>
                            <a:schemeClr val="accent1"/>
                          </a:solidFill>
                          <a:latin typeface="+mn-lt"/>
                          <a:ea typeface="+mn-ea"/>
                          <a:cs typeface="+mn-cs"/>
                          <a:sym typeface="Arial"/>
                        </a:rPr>
                        <a:t>Denature</a:t>
                      </a:r>
                      <a:endParaRPr sz="1600" b="0" i="0" u="none" strike="noStrike" cap="none">
                        <a:solidFill>
                          <a:schemeClr val="accent1"/>
                        </a:solidFill>
                        <a:latin typeface="+mn-lt"/>
                        <a:ea typeface="+mn-ea"/>
                        <a:cs typeface="+mn-cs"/>
                        <a:sym typeface="Arial"/>
                      </a:endParaRPr>
                    </a:p>
                  </a:txBody>
                  <a:tcPr marL="91425" marR="91425" marT="91425" marB="91425" anchor="ctr">
                    <a:lnL w="19050" cap="flat" cmpd="sng">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00"/>
                    </a:solidFill>
                  </a:tcPr>
                </a:tc>
                <a:tc>
                  <a:txBody>
                    <a:bodyPr/>
                    <a:lstStyle/>
                    <a:p>
                      <a:pPr marL="0" marR="0" lvl="0" indent="0" algn="ctr" rtl="0">
                        <a:lnSpc>
                          <a:spcPct val="100000"/>
                        </a:lnSpc>
                        <a:spcBef>
                          <a:spcPts val="0"/>
                        </a:spcBef>
                        <a:spcAft>
                          <a:spcPts val="0"/>
                        </a:spcAft>
                        <a:buClr>
                          <a:srgbClr val="000000"/>
                        </a:buClr>
                        <a:buFont typeface="Arial"/>
                        <a:buNone/>
                      </a:pPr>
                      <a:r>
                        <a:rPr lang="en-US" sz="1600" b="0" i="0" u="none" strike="noStrike" cap="none">
                          <a:solidFill>
                            <a:schemeClr val="accent1"/>
                          </a:solidFill>
                          <a:latin typeface="+mn-lt"/>
                          <a:ea typeface="+mn-ea"/>
                          <a:cs typeface="+mn-cs"/>
                          <a:sym typeface="Arial"/>
                        </a:rPr>
                        <a:t>Optimum pH/ temperature</a:t>
                      </a:r>
                      <a:endParaRPr sz="1600" b="0" i="0" u="none" strike="noStrike" cap="none">
                        <a:solidFill>
                          <a:schemeClr val="accent1"/>
                        </a:solidFill>
                        <a:latin typeface="+mn-lt"/>
                        <a:ea typeface="+mn-ea"/>
                        <a:cs typeface="+mn-cs"/>
                        <a:sym typeface="Aria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600" b="0" i="0" u="none" strike="noStrike" cap="none">
                          <a:solidFill>
                            <a:schemeClr val="accent1"/>
                          </a:solidFill>
                          <a:latin typeface="+mn-lt"/>
                          <a:ea typeface="+mn-ea"/>
                          <a:cs typeface="+mn-cs"/>
                          <a:sym typeface="Arial"/>
                        </a:rPr>
                        <a:t>Lactic acid/ </a:t>
                      </a:r>
                      <a:r>
                        <a:rPr lang="en-US" sz="1600">
                          <a:solidFill>
                            <a:schemeClr val="accent1"/>
                          </a:solidFill>
                        </a:rPr>
                        <a:t>Ethanol</a:t>
                      </a: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b="0" i="0" u="none" strike="noStrike" cap="none">
                          <a:solidFill>
                            <a:schemeClr val="accent1"/>
                          </a:solidFill>
                          <a:latin typeface="+mn-lt"/>
                          <a:ea typeface="+mn-ea"/>
                          <a:cs typeface="+mn-cs"/>
                          <a:sym typeface="Arial"/>
                        </a:rPr>
                        <a:t>CO</a:t>
                      </a:r>
                      <a:r>
                        <a:rPr lang="en-US" sz="1600" b="0" i="0" u="none" strike="noStrike" cap="none" baseline="-25000">
                          <a:solidFill>
                            <a:schemeClr val="accent1"/>
                          </a:solidFill>
                          <a:latin typeface="+mn-lt"/>
                          <a:ea typeface="+mn-ea"/>
                          <a:cs typeface="+mn-cs"/>
                          <a:sym typeface="Arial"/>
                        </a:rPr>
                        <a:t>2</a:t>
                      </a:r>
                      <a:r>
                        <a:rPr lang="en-US" sz="1600" b="0" i="0" u="none" strike="noStrike" cap="none">
                          <a:solidFill>
                            <a:schemeClr val="accent1"/>
                          </a:solidFill>
                          <a:latin typeface="+mn-lt"/>
                          <a:ea typeface="+mn-ea"/>
                          <a:cs typeface="+mn-cs"/>
                          <a:sym typeface="Arial"/>
                        </a:rPr>
                        <a:t> concentration</a:t>
                      </a:r>
                    </a:p>
                    <a:p>
                      <a:pPr marL="0" marR="0" lvl="0" indent="0" algn="ctr" rtl="0">
                        <a:lnSpc>
                          <a:spcPct val="100000"/>
                        </a:lnSpc>
                        <a:spcBef>
                          <a:spcPts val="0"/>
                        </a:spcBef>
                        <a:spcAft>
                          <a:spcPts val="0"/>
                        </a:spcAft>
                        <a:buClr>
                          <a:srgbClr val="000000"/>
                        </a:buClr>
                        <a:buFont typeface="Arial"/>
                        <a:buNone/>
                      </a:pPr>
                      <a:endParaRPr sz="1600" b="0" i="0" u="none" strike="noStrike" cap="none">
                        <a:solidFill>
                          <a:schemeClr val="accent1"/>
                        </a:solidFill>
                        <a:latin typeface="+mn-lt"/>
                        <a:ea typeface="+mn-ea"/>
                        <a:cs typeface="+mn-cs"/>
                        <a:sym typeface="Arial"/>
                      </a:endParaRPr>
                    </a:p>
                  </a:txBody>
                  <a:tcPr marL="91425" marR="91425" marT="91425" marB="91425" anchor="ctr">
                    <a:lnL w="19050" cap="flat" cmpd="sng">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b="0" i="0" u="none" strike="noStrike" cap="none">
                          <a:solidFill>
                            <a:schemeClr val="accent1"/>
                          </a:solidFill>
                          <a:latin typeface="+mn-lt"/>
                          <a:ea typeface="+mn-ea"/>
                          <a:cs typeface="+mn-cs"/>
                          <a:sym typeface="Arial"/>
                        </a:rPr>
                        <a:t>Accuracy, Validity (fair test), Precision</a:t>
                      </a:r>
                    </a:p>
                  </a:txBody>
                  <a:tcPr marL="91425" marR="91425" marT="91425" marB="91425" anchor="ctr">
                    <a:lnL w="19050" cap="flat" cmpd="sng" algn="ctr">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chemeClr val="accent4">
                        <a:lumMod val="40000"/>
                        <a:lumOff val="60000"/>
                      </a:scheme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31297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3"/>
          <p:cNvSpPr txBox="1">
            <a:spLocks noGrp="1"/>
          </p:cNvSpPr>
          <p:nvPr>
            <p:ph type="ctrTitle"/>
          </p:nvPr>
        </p:nvSpPr>
        <p:spPr>
          <a:xfrm>
            <a:off x="311700" y="392150"/>
            <a:ext cx="8520600" cy="2690400"/>
          </a:xfrm>
          <a:prstGeom prst="rect">
            <a:avLst/>
          </a:prstGeom>
        </p:spPr>
        <p:txBody>
          <a:bodyPr spcFirstLastPara="1" wrap="square" lIns="91425" tIns="91425" rIns="91425" bIns="91425" anchor="ctr" anchorCtr="0">
            <a:noAutofit/>
          </a:bodyPr>
          <a:lstStyle/>
          <a:p>
            <a:pPr lvl="0"/>
            <a:r>
              <a:rPr lang="en-GB"/>
              <a:t>Biology 1 (B1) Revision</a:t>
            </a:r>
            <a:endParaRPr/>
          </a:p>
        </p:txBody>
      </p:sp>
      <p:sp>
        <p:nvSpPr>
          <p:cNvPr id="57" name="Google Shape;57;p13"/>
          <p:cNvSpPr txBox="1">
            <a:spLocks noGrp="1"/>
          </p:cNvSpPr>
          <p:nvPr>
            <p:ph type="subTitle" idx="1"/>
          </p:nvPr>
        </p:nvSpPr>
        <p:spPr>
          <a:xfrm>
            <a:off x="311700" y="3890400"/>
            <a:ext cx="8520600" cy="70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“The harder I work the luckier I get!”</a:t>
            </a:r>
            <a:endParaRPr/>
          </a:p>
        </p:txBody>
      </p:sp>
    </p:spTree>
    <p:extLst>
      <p:ext uri="{BB962C8B-B14F-4D97-AF65-F5344CB8AC3E}">
        <p14:creationId xmlns:p14="http://schemas.microsoft.com/office/powerpoint/2010/main" val="2916794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1"/>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Biology 1 (B1) Assessment </a:t>
            </a:r>
            <a:endParaRPr/>
          </a:p>
        </p:txBody>
      </p:sp>
      <p:sp>
        <p:nvSpPr>
          <p:cNvPr id="105" name="Google Shape;105;p21"/>
          <p:cNvSpPr txBox="1">
            <a:spLocks noGrp="1"/>
          </p:cNvSpPr>
          <p:nvPr>
            <p:ph type="body" idx="1"/>
          </p:nvPr>
        </p:nvSpPr>
        <p:spPr>
          <a:xfrm>
            <a:off x="311700" y="1228675"/>
            <a:ext cx="8520600" cy="334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Next lesson– 50 mins only </a:t>
            </a:r>
            <a:endParaRPr/>
          </a:p>
          <a:p>
            <a:pPr marL="0" lvl="0" indent="0" algn="l" rtl="0">
              <a:spcBef>
                <a:spcPts val="1600"/>
              </a:spcBef>
              <a:spcAft>
                <a:spcPts val="0"/>
              </a:spcAft>
              <a:buNone/>
            </a:pPr>
            <a:r>
              <a:rPr lang="en-GB"/>
              <a:t>Today is a chance to revise!! </a:t>
            </a:r>
          </a:p>
          <a:p>
            <a:pPr marL="0" lvl="0" indent="0" algn="l" rtl="0">
              <a:spcBef>
                <a:spcPts val="1600"/>
              </a:spcBef>
              <a:spcAft>
                <a:spcPts val="0"/>
              </a:spcAft>
              <a:buNone/>
            </a:pPr>
            <a:endParaRPr lang="en-GB"/>
          </a:p>
          <a:p>
            <a:pPr marL="0" lvl="0" indent="0" algn="l" rtl="0">
              <a:spcBef>
                <a:spcPts val="1600"/>
              </a:spcBef>
              <a:spcAft>
                <a:spcPts val="0"/>
              </a:spcAft>
              <a:buNone/>
            </a:pPr>
            <a:r>
              <a:rPr lang="en-GB"/>
              <a:t>Once we complete the test you will receive feedback</a:t>
            </a:r>
            <a:r>
              <a:rPr lang="en-US"/>
              <a:t> and level up the next lesson!!</a:t>
            </a:r>
            <a:endParaRPr/>
          </a:p>
          <a:p>
            <a:pPr marL="0" lvl="0" indent="0" algn="l" rtl="0">
              <a:spcBef>
                <a:spcPts val="1600"/>
              </a:spcBef>
              <a:spcAft>
                <a:spcPts val="1600"/>
              </a:spcAft>
              <a:buNone/>
            </a:pPr>
            <a:endParaRPr lang="en-GB"/>
          </a:p>
          <a:p>
            <a:pPr marL="0" lvl="0" indent="0" algn="l" rtl="0">
              <a:spcBef>
                <a:spcPts val="1600"/>
              </a:spcBef>
              <a:spcAft>
                <a:spcPts val="1600"/>
              </a:spcAft>
              <a:buNone/>
            </a:pPr>
            <a:endParaRPr/>
          </a:p>
        </p:txBody>
      </p:sp>
      <p:pic>
        <p:nvPicPr>
          <p:cNvPr id="5" name="Picture 2" descr="Samuel Goldwyn - The harder I work, the luckier I get.">
            <a:extLst>
              <a:ext uri="{FF2B5EF4-FFF2-40B4-BE49-F238E27FC236}">
                <a16:creationId xmlns:a16="http://schemas.microsoft.com/office/drawing/2014/main" id="{8AEC4F41-9FB3-564E-9463-B3F6EFEE76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1648" y="3654745"/>
            <a:ext cx="2842352" cy="14922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8920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1"/>
          <p:cNvSpPr txBox="1">
            <a:spLocks noGrp="1"/>
          </p:cNvSpPr>
          <p:nvPr>
            <p:ph type="title"/>
          </p:nvPr>
        </p:nvSpPr>
        <p:spPr>
          <a:xfrm>
            <a:off x="311700" y="85833"/>
            <a:ext cx="8520600" cy="80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Assessment Skills </a:t>
            </a:r>
            <a:endParaRPr/>
          </a:p>
        </p:txBody>
      </p:sp>
      <p:sp>
        <p:nvSpPr>
          <p:cNvPr id="105" name="Google Shape;105;p21"/>
          <p:cNvSpPr txBox="1">
            <a:spLocks noGrp="1"/>
          </p:cNvSpPr>
          <p:nvPr>
            <p:ph type="body" idx="1"/>
          </p:nvPr>
        </p:nvSpPr>
        <p:spPr>
          <a:xfrm>
            <a:off x="311700" y="730290"/>
            <a:ext cx="8520600" cy="4617970"/>
          </a:xfrm>
          <a:prstGeom prst="rect">
            <a:avLst/>
          </a:prstGeom>
        </p:spPr>
        <p:txBody>
          <a:bodyPr spcFirstLastPara="1" wrap="square" lIns="91425" tIns="91425" rIns="91425" bIns="91425" anchor="t" anchorCtr="0">
            <a:noAutofit/>
          </a:bodyPr>
          <a:lstStyle/>
          <a:p>
            <a:pPr marL="0" lvl="0" indent="0" algn="l" rtl="0">
              <a:spcBef>
                <a:spcPts val="1600"/>
              </a:spcBef>
              <a:spcAft>
                <a:spcPts val="1600"/>
              </a:spcAft>
              <a:buNone/>
            </a:pPr>
            <a:r>
              <a:rPr lang="en-GB" sz="1400" b="1" u="sng">
                <a:solidFill>
                  <a:srgbClr val="FF0000"/>
                </a:solidFill>
              </a:rPr>
              <a:t>Key revision strategy - Retrieval practice….</a:t>
            </a:r>
          </a:p>
          <a:p>
            <a:pPr marL="285750" indent="-285750">
              <a:lnSpc>
                <a:spcPct val="100000"/>
              </a:lnSpc>
              <a:spcAft>
                <a:spcPts val="1600"/>
              </a:spcAft>
            </a:pPr>
            <a:r>
              <a:rPr lang="en-GB" sz="1400"/>
              <a:t>Key word flash cards and question flash cards.</a:t>
            </a:r>
          </a:p>
          <a:p>
            <a:pPr marL="742950" lvl="1" indent="-285750">
              <a:lnSpc>
                <a:spcPct val="100000"/>
              </a:lnSpc>
              <a:spcBef>
                <a:spcPts val="0"/>
              </a:spcBef>
              <a:spcAft>
                <a:spcPts val="1600"/>
              </a:spcAft>
            </a:pPr>
            <a:r>
              <a:rPr lang="en-GB" sz="1100"/>
              <a:t>Then test yourselves!</a:t>
            </a:r>
          </a:p>
          <a:p>
            <a:pPr marL="0" lvl="0" indent="0">
              <a:spcBef>
                <a:spcPts val="1600"/>
              </a:spcBef>
              <a:spcAft>
                <a:spcPts val="1600"/>
              </a:spcAft>
              <a:buNone/>
            </a:pPr>
            <a:r>
              <a:rPr lang="en-GB" sz="1400" b="1" u="sng">
                <a:solidFill>
                  <a:srgbClr val="FF0000"/>
                </a:solidFill>
              </a:rPr>
              <a:t>Key revision strategy – Practice exam application </a:t>
            </a:r>
          </a:p>
          <a:p>
            <a:pPr marL="171450" indent="-171450">
              <a:spcBef>
                <a:spcPts val="1600"/>
              </a:spcBef>
              <a:spcAft>
                <a:spcPts val="1600"/>
              </a:spcAft>
            </a:pPr>
            <a:r>
              <a:rPr lang="en-GB" sz="1400"/>
              <a:t> Reading answering practice assessment questions.</a:t>
            </a:r>
          </a:p>
          <a:p>
            <a:pPr marL="628650" lvl="1" indent="-171450">
              <a:spcBef>
                <a:spcPts val="0"/>
              </a:spcBef>
              <a:spcAft>
                <a:spcPts val="1600"/>
              </a:spcAft>
            </a:pPr>
            <a:r>
              <a:rPr lang="en-GB" sz="1050"/>
              <a:t>Then self-mark it! </a:t>
            </a:r>
            <a:r>
              <a:rPr lang="en-GB" sz="1050" b="1">
                <a:solidFill>
                  <a:srgbClr val="FF0000"/>
                </a:solidFill>
              </a:rPr>
              <a:t>Ask for help when needed!!</a:t>
            </a:r>
          </a:p>
          <a:p>
            <a:pPr marL="0" lvl="0" indent="0" algn="l" rtl="0">
              <a:spcBef>
                <a:spcPts val="1600"/>
              </a:spcBef>
              <a:spcAft>
                <a:spcPts val="1600"/>
              </a:spcAft>
              <a:buNone/>
            </a:pPr>
            <a:endParaRPr lang="en-GB" b="1"/>
          </a:p>
        </p:txBody>
      </p:sp>
      <p:pic>
        <p:nvPicPr>
          <p:cNvPr id="4" name="Picture 2" descr="Samuel Goldwyn - The harder I work, the luckier I get.">
            <a:extLst>
              <a:ext uri="{FF2B5EF4-FFF2-40B4-BE49-F238E27FC236}">
                <a16:creationId xmlns:a16="http://schemas.microsoft.com/office/drawing/2014/main" id="{4F4F8582-6A8A-4747-A831-617C24B566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6222" y="1"/>
            <a:ext cx="2467778" cy="1295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98918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CE8FD-814F-436C-89D8-ACFE5C90B959}"/>
              </a:ext>
            </a:extLst>
          </p:cNvPr>
          <p:cNvSpPr>
            <a:spLocks noGrp="1"/>
          </p:cNvSpPr>
          <p:nvPr>
            <p:ph type="title"/>
          </p:nvPr>
        </p:nvSpPr>
        <p:spPr>
          <a:xfrm>
            <a:off x="311700" y="-1830"/>
            <a:ext cx="8520600" cy="801000"/>
          </a:xfrm>
        </p:spPr>
        <p:txBody>
          <a:bodyPr/>
          <a:lstStyle/>
          <a:p>
            <a:r>
              <a:rPr lang="en-GB"/>
              <a:t>Emmett Chappelle – Black history month</a:t>
            </a:r>
          </a:p>
        </p:txBody>
      </p:sp>
      <p:sp>
        <p:nvSpPr>
          <p:cNvPr id="3" name="Text Placeholder 2">
            <a:extLst>
              <a:ext uri="{FF2B5EF4-FFF2-40B4-BE49-F238E27FC236}">
                <a16:creationId xmlns:a16="http://schemas.microsoft.com/office/drawing/2014/main" id="{59CE60CD-C14B-41EB-84A7-D5B83BF8A386}"/>
              </a:ext>
            </a:extLst>
          </p:cNvPr>
          <p:cNvSpPr>
            <a:spLocks noGrp="1"/>
          </p:cNvSpPr>
          <p:nvPr>
            <p:ph type="body" idx="1"/>
          </p:nvPr>
        </p:nvSpPr>
        <p:spPr>
          <a:xfrm>
            <a:off x="2123090" y="844698"/>
            <a:ext cx="6709210" cy="3340200"/>
          </a:xfrm>
        </p:spPr>
        <p:txBody>
          <a:bodyPr/>
          <a:lstStyle/>
          <a:p>
            <a:pPr>
              <a:lnSpc>
                <a:spcPct val="114999"/>
              </a:lnSpc>
            </a:pPr>
            <a:r>
              <a:rPr lang="en-GB"/>
              <a:t>While designing instruments for the Mars Viking spacecraft, he became interested in bio luminescence, which is warm light produced by living organisms. </a:t>
            </a:r>
            <a:endParaRPr lang="en-US"/>
          </a:p>
          <a:p>
            <a:pPr>
              <a:lnSpc>
                <a:spcPct val="114999"/>
              </a:lnSpc>
            </a:pPr>
            <a:r>
              <a:rPr lang="en-GB"/>
              <a:t>Chappelle developed a method using two chemicals, </a:t>
            </a:r>
            <a:r>
              <a:rPr lang="en-GB">
                <a:hlinkClick r:id="rId2"/>
              </a:rPr>
              <a:t>luciferase</a:t>
            </a:r>
            <a:r>
              <a:rPr lang="en-GB"/>
              <a:t> and </a:t>
            </a:r>
            <a:r>
              <a:rPr lang="en-GB">
                <a:hlinkClick r:id="rId3"/>
              </a:rPr>
              <a:t>luciferin</a:t>
            </a:r>
            <a:r>
              <a:rPr lang="en-GB"/>
              <a:t>, from fireflies which give off light when mixed with ATP (</a:t>
            </a:r>
            <a:r>
              <a:rPr lang="en-GB">
                <a:hlinkClick r:id="rId4"/>
              </a:rPr>
              <a:t>adenosine triphosphate</a:t>
            </a:r>
            <a:r>
              <a:rPr lang="en-GB"/>
              <a:t>), an energy storage compound found in all living cells, to detect the presence of ATP.</a:t>
            </a:r>
          </a:p>
          <a:p>
            <a:pPr>
              <a:lnSpc>
                <a:spcPct val="114999"/>
              </a:lnSpc>
            </a:pPr>
            <a:r>
              <a:rPr lang="en-GB"/>
              <a:t>This method for ATP detection can be used to detect life on other planets as well as microbiological organisms.</a:t>
            </a:r>
          </a:p>
        </p:txBody>
      </p:sp>
      <p:pic>
        <p:nvPicPr>
          <p:cNvPr id="1028" name="Picture 4">
            <a:extLst>
              <a:ext uri="{FF2B5EF4-FFF2-40B4-BE49-F238E27FC236}">
                <a16:creationId xmlns:a16="http://schemas.microsoft.com/office/drawing/2014/main" id="{16C5A18E-028F-4F94-A7C5-8184A5D8E05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3889970"/>
            <a:ext cx="1625204" cy="125313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E5A778D2-C86F-4834-B365-6C872BC02C7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084921"/>
            <a:ext cx="1666875" cy="2446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5093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graphicFrame>
        <p:nvGraphicFramePr>
          <p:cNvPr id="179" name="Google Shape;179;p31"/>
          <p:cNvGraphicFramePr/>
          <p:nvPr>
            <p:extLst>
              <p:ext uri="{D42A27DB-BD31-4B8C-83A1-F6EECF244321}">
                <p14:modId xmlns:p14="http://schemas.microsoft.com/office/powerpoint/2010/main" val="655396833"/>
              </p:ext>
            </p:extLst>
          </p:nvPr>
        </p:nvGraphicFramePr>
        <p:xfrm>
          <a:off x="0" y="0"/>
          <a:ext cx="9144000" cy="5158624"/>
        </p:xfrm>
        <a:graphic>
          <a:graphicData uri="http://schemas.openxmlformats.org/drawingml/2006/table">
            <a:tbl>
              <a:tblPr>
                <a:noFil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1303417">
                <a:tc>
                  <a:txBody>
                    <a:bodyPr/>
                    <a:lstStyle/>
                    <a:p>
                      <a:pPr marL="0" lvl="0" indent="0" algn="ctr" rtl="0">
                        <a:spcBef>
                          <a:spcPts val="0"/>
                        </a:spcBef>
                        <a:spcAft>
                          <a:spcPts val="0"/>
                        </a:spcAft>
                        <a:buNone/>
                      </a:pPr>
                      <a:r>
                        <a:rPr lang="en-GB">
                          <a:solidFill>
                            <a:srgbClr val="000000"/>
                          </a:solidFill>
                        </a:rPr>
                        <a:t>What is meant by a Eukaryotic / prokaryotic cell?</a:t>
                      </a:r>
                      <a:endParaRPr>
                        <a:solidFill>
                          <a:schemeClr val="accent1"/>
                        </a:solidFill>
                      </a:endParaRPr>
                    </a:p>
                  </a:txBody>
                  <a:tcPr marL="91425" marR="91425" marT="91425" marB="91425" anchor="ctr">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US">
                          <a:solidFill>
                            <a:schemeClr val="accent1"/>
                          </a:solidFill>
                        </a:rPr>
                        <a:t>How do you calculate the magnification of an image?</a:t>
                      </a:r>
                      <a:endParaRPr>
                        <a:solidFill>
                          <a:schemeClr val="accent1"/>
                        </a:solidFill>
                      </a:endParaRPr>
                    </a:p>
                  </a:txBody>
                  <a:tcPr marL="91425" marR="91425" marT="91425" marB="91425" anchor="ctr">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a:solidFill>
                            <a:schemeClr val="accent1"/>
                          </a:solidFill>
                        </a:rPr>
                        <a:t>An image of a cell is 5 cm in diameter. It has been magnified x 1000. What is the actual size of the cell? </a:t>
                      </a:r>
                    </a:p>
                    <a:p>
                      <a:pPr marL="0" lvl="0" indent="0" algn="ctr" rtl="0">
                        <a:spcBef>
                          <a:spcPts val="0"/>
                        </a:spcBef>
                        <a:spcAft>
                          <a:spcPts val="0"/>
                        </a:spcAft>
                        <a:buNone/>
                      </a:pPr>
                      <a:endParaRPr>
                        <a:solidFill>
                          <a:schemeClr val="accent1"/>
                        </a:solidFill>
                      </a:endParaRPr>
                    </a:p>
                  </a:txBody>
                  <a:tcPr marL="91425" marR="91425" marT="91425" marB="91425" anchor="ctr">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a:solidFill>
                            <a:schemeClr val="accent1"/>
                          </a:solidFill>
                        </a:rPr>
                        <a:t>How do we prepare cells</a:t>
                      </a:r>
                    </a:p>
                    <a:p>
                      <a:pPr marL="0" lvl="0" indent="0" algn="ctr" rtl="0">
                        <a:spcBef>
                          <a:spcPts val="0"/>
                        </a:spcBef>
                        <a:spcAft>
                          <a:spcPts val="0"/>
                        </a:spcAft>
                        <a:buNone/>
                      </a:pPr>
                      <a:r>
                        <a:rPr lang="en-GB">
                          <a:solidFill>
                            <a:schemeClr val="accent1"/>
                          </a:solidFill>
                        </a:rPr>
                        <a:t>to view down a microscope?</a:t>
                      </a:r>
                    </a:p>
                  </a:txBody>
                  <a:tcPr marL="91425" marR="91425" marT="91425" marB="91425" anchor="ctr">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234526">
                <a:tc>
                  <a:txBody>
                    <a:bodyPr/>
                    <a:lstStyle/>
                    <a:p>
                      <a:pPr marL="0" lvl="0" indent="0" algn="ctr" rtl="0">
                        <a:spcBef>
                          <a:spcPts val="0"/>
                        </a:spcBef>
                        <a:spcAft>
                          <a:spcPts val="0"/>
                        </a:spcAft>
                        <a:buNone/>
                      </a:pPr>
                      <a:r>
                        <a:rPr lang="en-GB">
                          <a:solidFill>
                            <a:schemeClr val="accent1"/>
                          </a:solidFill>
                        </a:rPr>
                        <a:t>What is meant by the lock and key mechanism for enzymes? </a:t>
                      </a:r>
                      <a:endParaRPr>
                        <a:solidFill>
                          <a:schemeClr val="accent1"/>
                        </a:solidFill>
                      </a:endParaRPr>
                    </a:p>
                  </a:txBody>
                  <a:tcPr marL="91425" marR="91425" marT="91425" marB="91425" anchor="ctr">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lgn="ctr">
                      <a:solidFill>
                        <a:srgbClr val="000000"/>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solidFill>
                            <a:schemeClr val="accent1"/>
                          </a:solidFill>
                        </a:rPr>
                        <a:t>What are meant by optimum conditions for an enzyme? </a:t>
                      </a:r>
                    </a:p>
                  </a:txBody>
                  <a:tcPr marL="91425" marR="91425" marT="91425" marB="91425" anchor="ctr">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lgn="ctr">
                      <a:solidFill>
                        <a:srgbClr val="000000"/>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solidFill>
                            <a:schemeClr val="accent1"/>
                          </a:solidFill>
                        </a:rPr>
                        <a:t>How does temperature/ pH/ substrate concentration effect the rate of an enzyme reaction?</a:t>
                      </a:r>
                    </a:p>
                  </a:txBody>
                  <a:tcPr marL="91425" marR="91425" marT="91425" marB="91425" anchor="ctr">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lgn="ctr">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sz="1300">
                          <a:solidFill>
                            <a:schemeClr val="accent1"/>
                          </a:solidFill>
                        </a:rPr>
                        <a:t>State the names of  4 digestive enzymes (and their substrates).</a:t>
                      </a:r>
                    </a:p>
                  </a:txBody>
                  <a:tcPr marL="91425" marR="91425" marT="91425" marB="91425" anchor="ctr">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302140">
                <a:tc>
                  <a:txBody>
                    <a:bodyPr/>
                    <a:lstStyle/>
                    <a:p>
                      <a:pPr marL="0" lvl="0" indent="0" algn="ctr" rtl="0">
                        <a:spcBef>
                          <a:spcPts val="0"/>
                        </a:spcBef>
                        <a:spcAft>
                          <a:spcPts val="0"/>
                        </a:spcAft>
                        <a:buNone/>
                      </a:pPr>
                      <a:r>
                        <a:rPr lang="en-US">
                          <a:solidFill>
                            <a:schemeClr val="accent1"/>
                          </a:solidFill>
                        </a:rPr>
                        <a:t>How can we investigate the action of lipase? (think milk!)</a:t>
                      </a:r>
                      <a:endParaRPr>
                        <a:solidFill>
                          <a:schemeClr val="accent1"/>
                        </a:solidFill>
                      </a:endParaRPr>
                    </a:p>
                  </a:txBody>
                  <a:tcPr marL="91425" marR="91425" marT="91425" marB="91425" anchor="ctr">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solidFill>
                            <a:schemeClr val="accent1"/>
                          </a:solidFill>
                        </a:rPr>
                        <a:t>What is the word and symbol equation for aerobic respiration?</a:t>
                      </a:r>
                    </a:p>
                  </a:txBody>
                  <a:tcPr marL="91425" marR="91425" marT="91425" marB="91425" anchor="ctr">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a:solidFill>
                            <a:schemeClr val="accent1"/>
                          </a:solidFill>
                        </a:rPr>
                        <a:t>Why do muscle cells have a lot of mitochondria?</a:t>
                      </a:r>
                      <a:endParaRPr>
                        <a:solidFill>
                          <a:schemeClr val="accent1"/>
                        </a:solidFill>
                      </a:endParaRPr>
                    </a:p>
                  </a:txBody>
                  <a:tcPr marL="91425" marR="91425" marT="91425" marB="91425" anchor="ctr">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a:solidFill>
                            <a:schemeClr val="accent1"/>
                          </a:solidFill>
                        </a:rPr>
                        <a:t>What are the products of anaerobic respiration in animals and yeast?</a:t>
                      </a:r>
                      <a:endParaRPr>
                        <a:solidFill>
                          <a:schemeClr val="accent1"/>
                        </a:solidFill>
                      </a:endParaRPr>
                    </a:p>
                  </a:txBody>
                  <a:tcPr marL="91425" marR="91425" marT="91425" marB="91425" anchor="ctr">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303417">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solidFill>
                            <a:schemeClr val="accent1"/>
                          </a:solidFill>
                        </a:rPr>
                        <a:t>Where does photosynthesis happen?</a:t>
                      </a:r>
                      <a:endParaRPr>
                        <a:solidFill>
                          <a:schemeClr val="accent1"/>
                        </a:solidFill>
                      </a:endParaRPr>
                    </a:p>
                  </a:txBody>
                  <a:tcPr marL="91425" marR="91425" marT="91425" marB="91425" anchor="ctr">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solidFill>
                            <a:schemeClr val="accent1"/>
                          </a:solidFill>
                        </a:rPr>
                        <a:t>What are the three limiting factors of photosynthesis? </a:t>
                      </a:r>
                    </a:p>
                  </a:txBody>
                  <a:tcPr marL="91425" marR="91425" marT="91425" marB="91425" anchor="ctr">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solidFill>
                            <a:schemeClr val="accent1"/>
                          </a:solidFill>
                        </a:rPr>
                        <a:t>How can we investigate factors that effect the rate of photosynthesis?</a:t>
                      </a:r>
                    </a:p>
                  </a:txBody>
                  <a:tcPr marL="91425" marR="91425" marT="91425" marB="91425" anchor="ctr">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GB" dirty="0">
                          <a:solidFill>
                            <a:schemeClr val="accent1"/>
                          </a:solidFill>
                        </a:rPr>
                        <a:t>How do you calculate a percentage of an amount?</a:t>
                      </a:r>
                      <a:endParaRPr dirty="0">
                        <a:solidFill>
                          <a:schemeClr val="accent1"/>
                        </a:solidFill>
                      </a:endParaRPr>
                    </a:p>
                  </a:txBody>
                  <a:tcPr marL="91425" marR="91425" marT="91425" marB="91425" anchor="ctr">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92657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03BF90D-2D5F-A53F-3141-333262550A1C}"/>
              </a:ext>
            </a:extLst>
          </p:cNvPr>
          <p:cNvPicPr>
            <a:picLocks noChangeAspect="1"/>
          </p:cNvPicPr>
          <p:nvPr/>
        </p:nvPicPr>
        <p:blipFill>
          <a:blip r:embed="rId2"/>
          <a:stretch>
            <a:fillRect/>
          </a:stretch>
        </p:blipFill>
        <p:spPr>
          <a:xfrm>
            <a:off x="1320800" y="146050"/>
            <a:ext cx="6502400" cy="4851400"/>
          </a:xfrm>
          <a:prstGeom prst="rect">
            <a:avLst/>
          </a:prstGeom>
        </p:spPr>
      </p:pic>
    </p:spTree>
    <p:extLst>
      <p:ext uri="{BB962C8B-B14F-4D97-AF65-F5344CB8AC3E}">
        <p14:creationId xmlns:p14="http://schemas.microsoft.com/office/powerpoint/2010/main" val="1677914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pic>
        <p:nvPicPr>
          <p:cNvPr id="143" name="Google Shape;143;p27"/>
          <p:cNvPicPr preferRelativeResize="0"/>
          <p:nvPr/>
        </p:nvPicPr>
        <p:blipFill rotWithShape="1">
          <a:blip r:embed="rId3">
            <a:alphaModFix/>
          </a:blip>
          <a:srcRect l="16683" t="5706" r="10999" b="15689"/>
          <a:stretch/>
        </p:blipFill>
        <p:spPr>
          <a:xfrm>
            <a:off x="4153359" y="-1"/>
            <a:ext cx="4965163" cy="6764357"/>
          </a:xfrm>
          <a:prstGeom prst="rect">
            <a:avLst/>
          </a:prstGeom>
          <a:noFill/>
          <a:ln>
            <a:noFill/>
          </a:ln>
        </p:spPr>
      </p:pic>
      <p:pic>
        <p:nvPicPr>
          <p:cNvPr id="144" name="Google Shape;144;p27"/>
          <p:cNvPicPr preferRelativeResize="0"/>
          <p:nvPr/>
        </p:nvPicPr>
        <p:blipFill rotWithShape="1">
          <a:blip r:embed="rId4">
            <a:alphaModFix/>
          </a:blip>
          <a:srcRect l="26494" t="22574" r="40100" b="25011"/>
          <a:stretch/>
        </p:blipFill>
        <p:spPr>
          <a:xfrm>
            <a:off x="0" y="0"/>
            <a:ext cx="3569465" cy="32499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pic>
        <p:nvPicPr>
          <p:cNvPr id="143" name="Google Shape;143;p27"/>
          <p:cNvPicPr preferRelativeResize="0"/>
          <p:nvPr/>
        </p:nvPicPr>
        <p:blipFill rotWithShape="1">
          <a:blip r:embed="rId3">
            <a:alphaModFix/>
          </a:blip>
          <a:srcRect l="16683" t="5706" r="10999" b="15689"/>
          <a:stretch/>
        </p:blipFill>
        <p:spPr>
          <a:xfrm>
            <a:off x="4153359" y="-1"/>
            <a:ext cx="4965163" cy="6764357"/>
          </a:xfrm>
          <a:prstGeom prst="rect">
            <a:avLst/>
          </a:prstGeom>
          <a:noFill/>
          <a:ln>
            <a:noFill/>
          </a:ln>
        </p:spPr>
      </p:pic>
      <p:pic>
        <p:nvPicPr>
          <p:cNvPr id="144" name="Google Shape;144;p27"/>
          <p:cNvPicPr preferRelativeResize="0"/>
          <p:nvPr/>
        </p:nvPicPr>
        <p:blipFill rotWithShape="1">
          <a:blip r:embed="rId4">
            <a:alphaModFix/>
          </a:blip>
          <a:srcRect l="26494" t="22574" r="40100" b="25011"/>
          <a:stretch/>
        </p:blipFill>
        <p:spPr>
          <a:xfrm>
            <a:off x="0" y="0"/>
            <a:ext cx="3569465" cy="3249976"/>
          </a:xfrm>
          <a:prstGeom prst="rect">
            <a:avLst/>
          </a:prstGeom>
          <a:noFill/>
          <a:ln>
            <a:noFill/>
          </a:ln>
        </p:spPr>
      </p:pic>
      <p:sp>
        <p:nvSpPr>
          <p:cNvPr id="2" name="TextBox 1">
            <a:extLst>
              <a:ext uri="{FF2B5EF4-FFF2-40B4-BE49-F238E27FC236}">
                <a16:creationId xmlns:a16="http://schemas.microsoft.com/office/drawing/2014/main" id="{2C3DF053-FECE-5148-84C7-F934C115A07B}"/>
              </a:ext>
            </a:extLst>
          </p:cNvPr>
          <p:cNvSpPr txBox="1"/>
          <p:nvPr/>
        </p:nvSpPr>
        <p:spPr>
          <a:xfrm>
            <a:off x="4153358" y="2224905"/>
            <a:ext cx="4965163" cy="2319674"/>
          </a:xfrm>
          <a:prstGeom prst="rect">
            <a:avLst/>
          </a:prstGeom>
          <a:noFill/>
        </p:spPr>
        <p:txBody>
          <a:bodyPr wrap="square" rtlCol="0">
            <a:spAutoFit/>
          </a:bodyPr>
          <a:lstStyle/>
          <a:p>
            <a:pPr marL="285750" indent="-285750">
              <a:lnSpc>
                <a:spcPts val="2200"/>
              </a:lnSpc>
              <a:buFont typeface="Arial" panose="020B0604020202020204" pitchFamily="34" charset="0"/>
              <a:buChar char="•"/>
            </a:pPr>
            <a:r>
              <a:rPr lang="en-GB">
                <a:solidFill>
                  <a:srgbClr val="FF0000"/>
                </a:solidFill>
              </a:rPr>
              <a:t>The enzyme that digests fat is called lipase. This enzyme is released in the small intestine. </a:t>
            </a:r>
          </a:p>
          <a:p>
            <a:pPr marL="285750" indent="-285750">
              <a:lnSpc>
                <a:spcPts val="2200"/>
              </a:lnSpc>
              <a:buFont typeface="Arial" panose="020B0604020202020204" pitchFamily="34" charset="0"/>
              <a:buChar char="•"/>
            </a:pPr>
            <a:r>
              <a:rPr lang="en-GB">
                <a:solidFill>
                  <a:srgbClr val="FF0000"/>
                </a:solidFill>
              </a:rPr>
              <a:t>This enzyme has an alkaline optimum pH of around 9. </a:t>
            </a:r>
          </a:p>
          <a:p>
            <a:pPr marL="285750" indent="-285750">
              <a:lnSpc>
                <a:spcPts val="2200"/>
              </a:lnSpc>
              <a:buFont typeface="Arial" panose="020B0604020202020204" pitchFamily="34" charset="0"/>
              <a:buChar char="•"/>
            </a:pPr>
            <a:r>
              <a:rPr lang="en-GB">
                <a:solidFill>
                  <a:srgbClr val="FF0000"/>
                </a:solidFill>
              </a:rPr>
              <a:t>When fats or lipids are digested, the products are 3 fatty acids and a molecule called glycerol. </a:t>
            </a:r>
          </a:p>
          <a:p>
            <a:pPr marL="285750" indent="-285750">
              <a:lnSpc>
                <a:spcPts val="2200"/>
              </a:lnSpc>
              <a:buFont typeface="Arial" panose="020B0604020202020204" pitchFamily="34" charset="0"/>
              <a:buChar char="•"/>
            </a:pPr>
            <a:r>
              <a:rPr lang="en-GB">
                <a:solidFill>
                  <a:srgbClr val="FF0000"/>
                </a:solidFill>
              </a:rPr>
              <a:t>A substance called bile helps to emulsify fats and so they can be more easily absorbed into the blood stream through the wall of the small intestine. </a:t>
            </a:r>
          </a:p>
        </p:txBody>
      </p:sp>
      <p:sp>
        <p:nvSpPr>
          <p:cNvPr id="3" name="Rectangle 2">
            <a:extLst>
              <a:ext uri="{FF2B5EF4-FFF2-40B4-BE49-F238E27FC236}">
                <a16:creationId xmlns:a16="http://schemas.microsoft.com/office/drawing/2014/main" id="{951616FE-8D40-4B8A-9DF0-D9E95DFD0D28}"/>
              </a:ext>
            </a:extLst>
          </p:cNvPr>
          <p:cNvSpPr/>
          <p:nvPr/>
        </p:nvSpPr>
        <p:spPr>
          <a:xfrm>
            <a:off x="608174" y="2761811"/>
            <a:ext cx="304892" cy="307777"/>
          </a:xfrm>
          <a:prstGeom prst="rect">
            <a:avLst/>
          </a:prstGeom>
        </p:spPr>
        <p:txBody>
          <a:bodyPr wrap="none">
            <a:spAutoFit/>
          </a:bodyPr>
          <a:lstStyle/>
          <a:p>
            <a:r>
              <a:rPr lang="en-GB">
                <a:solidFill>
                  <a:srgbClr val="FF0000"/>
                </a:solidFill>
              </a:rPr>
              <a:t>B</a:t>
            </a:r>
            <a:endParaRPr lang="en-GB"/>
          </a:p>
        </p:txBody>
      </p:sp>
      <p:sp>
        <p:nvSpPr>
          <p:cNvPr id="4" name="Rectangle 3">
            <a:extLst>
              <a:ext uri="{FF2B5EF4-FFF2-40B4-BE49-F238E27FC236}">
                <a16:creationId xmlns:a16="http://schemas.microsoft.com/office/drawing/2014/main" id="{E9547572-BE5C-41B5-9620-16A4723AF172}"/>
              </a:ext>
            </a:extLst>
          </p:cNvPr>
          <p:cNvSpPr/>
          <p:nvPr/>
        </p:nvSpPr>
        <p:spPr>
          <a:xfrm>
            <a:off x="199616" y="3498138"/>
            <a:ext cx="3661795" cy="1528624"/>
          </a:xfrm>
          <a:prstGeom prst="rect">
            <a:avLst/>
          </a:prstGeom>
        </p:spPr>
        <p:txBody>
          <a:bodyPr wrap="square">
            <a:spAutoFit/>
          </a:bodyPr>
          <a:lstStyle/>
          <a:p>
            <a:pPr>
              <a:lnSpc>
                <a:spcPts val="1400"/>
              </a:lnSpc>
            </a:pPr>
            <a:r>
              <a:rPr lang="en-GB" u="sng">
                <a:solidFill>
                  <a:srgbClr val="00B050"/>
                </a:solidFill>
              </a:rPr>
              <a:t>Half blood prince tips: </a:t>
            </a:r>
            <a:r>
              <a:rPr lang="en-GB">
                <a:solidFill>
                  <a:srgbClr val="00B050"/>
                </a:solidFill>
              </a:rPr>
              <a:t>We can investigate how quickly lipase enzymes work by using an indicator (Phenolphthalein) and milk (which contains fats). As the fats (lipids) break down, they release fatty acids which changes the colour of the indicator (and milk) from pink to colourless. This would leave the milk white!</a:t>
            </a:r>
          </a:p>
        </p:txBody>
      </p:sp>
      <p:sp>
        <p:nvSpPr>
          <p:cNvPr id="5" name="Arrow: Right 4">
            <a:extLst>
              <a:ext uri="{FF2B5EF4-FFF2-40B4-BE49-F238E27FC236}">
                <a16:creationId xmlns:a16="http://schemas.microsoft.com/office/drawing/2014/main" id="{A121C1EA-0C79-4A24-BA13-9CF48501DB58}"/>
              </a:ext>
            </a:extLst>
          </p:cNvPr>
          <p:cNvSpPr/>
          <p:nvPr/>
        </p:nvSpPr>
        <p:spPr>
          <a:xfrm rot="19044208">
            <a:off x="3269718" y="2973989"/>
            <a:ext cx="922789" cy="244063"/>
          </a:xfrm>
          <a:prstGeom prst="right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87041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32"/>
          <p:cNvPicPr preferRelativeResize="0"/>
          <p:nvPr/>
        </p:nvPicPr>
        <p:blipFill rotWithShape="1">
          <a:blip r:embed="rId3">
            <a:alphaModFix/>
          </a:blip>
          <a:srcRect l="34724" t="23082" r="34990" b="11305"/>
          <a:stretch/>
        </p:blipFill>
        <p:spPr>
          <a:xfrm>
            <a:off x="76350" y="0"/>
            <a:ext cx="4142100" cy="5048075"/>
          </a:xfrm>
          <a:prstGeom prst="rect">
            <a:avLst/>
          </a:prstGeom>
          <a:noFill/>
          <a:ln>
            <a:noFill/>
          </a:ln>
        </p:spPr>
      </p:pic>
      <p:pic>
        <p:nvPicPr>
          <p:cNvPr id="177" name="Google Shape;177;p32"/>
          <p:cNvPicPr preferRelativeResize="0"/>
          <p:nvPr/>
        </p:nvPicPr>
        <p:blipFill rotWithShape="1">
          <a:blip r:embed="rId4">
            <a:alphaModFix/>
          </a:blip>
          <a:srcRect l="32209" t="25333" r="31649" b="12620"/>
          <a:stretch/>
        </p:blipFill>
        <p:spPr>
          <a:xfrm>
            <a:off x="4218450" y="0"/>
            <a:ext cx="4925552" cy="475661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32"/>
          <p:cNvPicPr preferRelativeResize="0"/>
          <p:nvPr/>
        </p:nvPicPr>
        <p:blipFill rotWithShape="1">
          <a:blip r:embed="rId3">
            <a:alphaModFix/>
          </a:blip>
          <a:srcRect l="34724" t="23082" r="34990" b="11305"/>
          <a:stretch/>
        </p:blipFill>
        <p:spPr>
          <a:xfrm>
            <a:off x="76350" y="0"/>
            <a:ext cx="4142100" cy="5048075"/>
          </a:xfrm>
          <a:prstGeom prst="rect">
            <a:avLst/>
          </a:prstGeom>
          <a:noFill/>
          <a:ln>
            <a:noFill/>
          </a:ln>
        </p:spPr>
      </p:pic>
      <p:pic>
        <p:nvPicPr>
          <p:cNvPr id="177" name="Google Shape;177;p32"/>
          <p:cNvPicPr preferRelativeResize="0"/>
          <p:nvPr/>
        </p:nvPicPr>
        <p:blipFill rotWithShape="1">
          <a:blip r:embed="rId4">
            <a:alphaModFix/>
          </a:blip>
          <a:srcRect l="32209" t="25333" r="31649" b="12620"/>
          <a:stretch/>
        </p:blipFill>
        <p:spPr>
          <a:xfrm>
            <a:off x="4218450" y="0"/>
            <a:ext cx="4925552" cy="4756619"/>
          </a:xfrm>
          <a:prstGeom prst="rect">
            <a:avLst/>
          </a:prstGeom>
          <a:noFill/>
          <a:ln>
            <a:noFill/>
          </a:ln>
        </p:spPr>
      </p:pic>
      <p:sp>
        <p:nvSpPr>
          <p:cNvPr id="4" name="TextBox 3">
            <a:extLst>
              <a:ext uri="{FF2B5EF4-FFF2-40B4-BE49-F238E27FC236}">
                <a16:creationId xmlns:a16="http://schemas.microsoft.com/office/drawing/2014/main" id="{D6EDAF04-8A1F-41C0-BEDD-826D9195F407}"/>
              </a:ext>
            </a:extLst>
          </p:cNvPr>
          <p:cNvSpPr txBox="1"/>
          <p:nvPr/>
        </p:nvSpPr>
        <p:spPr>
          <a:xfrm>
            <a:off x="414529" y="3578372"/>
            <a:ext cx="3637353" cy="1714637"/>
          </a:xfrm>
          <a:prstGeom prst="rect">
            <a:avLst/>
          </a:prstGeom>
          <a:noFill/>
        </p:spPr>
        <p:txBody>
          <a:bodyPr wrap="square" rtlCol="0">
            <a:spAutoFit/>
          </a:bodyPr>
          <a:lstStyle/>
          <a:p>
            <a:pPr>
              <a:lnSpc>
                <a:spcPts val="1600"/>
              </a:lnSpc>
            </a:pPr>
            <a:r>
              <a:rPr lang="en-GB" sz="1100">
                <a:solidFill>
                  <a:srgbClr val="FF0000"/>
                </a:solidFill>
              </a:rPr>
              <a:t>The rate of photosynthesis starts off quite low with a rate of 10 arbitrary units (</a:t>
            </a:r>
            <a:r>
              <a:rPr lang="en-GB" sz="1100" err="1">
                <a:solidFill>
                  <a:srgbClr val="FF0000"/>
                </a:solidFill>
              </a:rPr>
              <a:t>a.u</a:t>
            </a:r>
            <a:r>
              <a:rPr lang="en-GB" sz="1100">
                <a:solidFill>
                  <a:srgbClr val="FF0000"/>
                </a:solidFill>
              </a:rPr>
              <a:t>.) at 10</a:t>
            </a:r>
            <a:r>
              <a:rPr lang="en-GB" sz="1100" baseline="30000">
                <a:solidFill>
                  <a:srgbClr val="FF0000"/>
                </a:solidFill>
              </a:rPr>
              <a:t>o</a:t>
            </a:r>
            <a:r>
              <a:rPr lang="en-GB" sz="1100">
                <a:solidFill>
                  <a:srgbClr val="FF0000"/>
                </a:solidFill>
              </a:rPr>
              <a:t>C.</a:t>
            </a:r>
          </a:p>
          <a:p>
            <a:pPr>
              <a:lnSpc>
                <a:spcPts val="1600"/>
              </a:lnSpc>
            </a:pPr>
            <a:r>
              <a:rPr lang="en-GB" sz="1100">
                <a:solidFill>
                  <a:srgbClr val="FF0000"/>
                </a:solidFill>
              </a:rPr>
              <a:t>This gradually increases up until 28</a:t>
            </a:r>
            <a:r>
              <a:rPr lang="en-GB" sz="1100" baseline="30000">
                <a:solidFill>
                  <a:srgbClr val="FF0000"/>
                </a:solidFill>
              </a:rPr>
              <a:t>o</a:t>
            </a:r>
            <a:r>
              <a:rPr lang="en-GB" sz="1100">
                <a:solidFill>
                  <a:srgbClr val="FF0000"/>
                </a:solidFill>
              </a:rPr>
              <a:t>C where it levels off at 20 </a:t>
            </a:r>
            <a:r>
              <a:rPr lang="en-GB" sz="1100" err="1">
                <a:solidFill>
                  <a:srgbClr val="FF0000"/>
                </a:solidFill>
              </a:rPr>
              <a:t>a.u</a:t>
            </a:r>
            <a:r>
              <a:rPr lang="en-GB" sz="1100">
                <a:solidFill>
                  <a:srgbClr val="FF0000"/>
                </a:solidFill>
              </a:rPr>
              <a:t>. The rate of photosynthesis remains the same until 40</a:t>
            </a:r>
            <a:r>
              <a:rPr lang="en-GB" sz="1100" baseline="30000">
                <a:solidFill>
                  <a:srgbClr val="FF0000"/>
                </a:solidFill>
              </a:rPr>
              <a:t>o</a:t>
            </a:r>
            <a:r>
              <a:rPr lang="en-GB" sz="1100">
                <a:solidFill>
                  <a:srgbClr val="FF0000"/>
                </a:solidFill>
              </a:rPr>
              <a:t>C where the rate of photosynthesis begins to rapidly decrease. </a:t>
            </a:r>
          </a:p>
          <a:p>
            <a:pPr>
              <a:lnSpc>
                <a:spcPts val="1600"/>
              </a:lnSpc>
            </a:pPr>
            <a:r>
              <a:rPr lang="en-GB" sz="1100">
                <a:solidFill>
                  <a:srgbClr val="FF0000"/>
                </a:solidFill>
              </a:rPr>
              <a:t>At 55</a:t>
            </a:r>
            <a:r>
              <a:rPr lang="en-GB" sz="1100" baseline="30000">
                <a:solidFill>
                  <a:srgbClr val="FF0000"/>
                </a:solidFill>
              </a:rPr>
              <a:t>o</a:t>
            </a:r>
            <a:r>
              <a:rPr lang="en-GB" sz="1100">
                <a:solidFill>
                  <a:srgbClr val="FF0000"/>
                </a:solidFill>
              </a:rPr>
              <a:t>C the rate of photosynthesis is 0.</a:t>
            </a:r>
          </a:p>
          <a:p>
            <a:pPr>
              <a:lnSpc>
                <a:spcPts val="1600"/>
              </a:lnSpc>
            </a:pPr>
            <a:endParaRPr lang="en-GB" sz="1100">
              <a:solidFill>
                <a:srgbClr val="FF0000"/>
              </a:solidFill>
            </a:endParaRPr>
          </a:p>
        </p:txBody>
      </p:sp>
      <p:sp>
        <p:nvSpPr>
          <p:cNvPr id="5" name="TextBox 4">
            <a:extLst>
              <a:ext uri="{FF2B5EF4-FFF2-40B4-BE49-F238E27FC236}">
                <a16:creationId xmlns:a16="http://schemas.microsoft.com/office/drawing/2014/main" id="{52BFEB68-D66C-4B1E-AB43-9AE82059BDD9}"/>
              </a:ext>
            </a:extLst>
          </p:cNvPr>
          <p:cNvSpPr txBox="1"/>
          <p:nvPr/>
        </p:nvSpPr>
        <p:spPr>
          <a:xfrm>
            <a:off x="4745812" y="273949"/>
            <a:ext cx="4213629" cy="1525482"/>
          </a:xfrm>
          <a:prstGeom prst="rect">
            <a:avLst/>
          </a:prstGeom>
          <a:noFill/>
        </p:spPr>
        <p:txBody>
          <a:bodyPr wrap="square" rtlCol="0">
            <a:spAutoFit/>
          </a:bodyPr>
          <a:lstStyle/>
          <a:p>
            <a:pPr>
              <a:lnSpc>
                <a:spcPts val="1900"/>
              </a:lnSpc>
            </a:pPr>
            <a:r>
              <a:rPr lang="en-GB" sz="1100">
                <a:solidFill>
                  <a:srgbClr val="FF0000"/>
                </a:solidFill>
              </a:rPr>
              <a:t>The rate of photosynthesis increases up until 28</a:t>
            </a:r>
            <a:r>
              <a:rPr lang="en-GB" sz="1100" baseline="30000">
                <a:solidFill>
                  <a:srgbClr val="FF0000"/>
                </a:solidFill>
              </a:rPr>
              <a:t>o</a:t>
            </a:r>
            <a:r>
              <a:rPr lang="en-GB" sz="1100">
                <a:solidFill>
                  <a:srgbClr val="FF0000"/>
                </a:solidFill>
              </a:rPr>
              <a:t>C as there is more energy for the reaction to happen quickly. After 40</a:t>
            </a:r>
            <a:r>
              <a:rPr lang="en-GB" sz="1100" baseline="30000">
                <a:solidFill>
                  <a:srgbClr val="FF0000"/>
                </a:solidFill>
              </a:rPr>
              <a:t>o</a:t>
            </a:r>
            <a:r>
              <a:rPr lang="en-GB" sz="1100">
                <a:solidFill>
                  <a:srgbClr val="FF0000"/>
                </a:solidFill>
              </a:rPr>
              <a:t>C the rate of photosynthesis decreases as the heat energy </a:t>
            </a:r>
            <a:r>
              <a:rPr lang="en-GB" sz="1100" b="1">
                <a:solidFill>
                  <a:srgbClr val="FF0000"/>
                </a:solidFill>
              </a:rPr>
              <a:t>denatures</a:t>
            </a:r>
            <a:r>
              <a:rPr lang="en-GB" sz="1100">
                <a:solidFill>
                  <a:srgbClr val="FF0000"/>
                </a:solidFill>
              </a:rPr>
              <a:t> the photosynthesis </a:t>
            </a:r>
            <a:r>
              <a:rPr lang="en-GB" sz="1100" b="1">
                <a:solidFill>
                  <a:srgbClr val="FF0000"/>
                </a:solidFill>
              </a:rPr>
              <a:t>enzymes</a:t>
            </a:r>
            <a:r>
              <a:rPr lang="en-GB" sz="1100">
                <a:solidFill>
                  <a:srgbClr val="FF0000"/>
                </a:solidFill>
              </a:rPr>
              <a:t>. At 55</a:t>
            </a:r>
            <a:r>
              <a:rPr lang="en-GB" sz="1100" baseline="30000">
                <a:solidFill>
                  <a:srgbClr val="FF0000"/>
                </a:solidFill>
              </a:rPr>
              <a:t>o</a:t>
            </a:r>
            <a:r>
              <a:rPr lang="en-GB" sz="1100">
                <a:solidFill>
                  <a:srgbClr val="FF0000"/>
                </a:solidFill>
              </a:rPr>
              <a:t>C the rate of photosynthesis is 0 as all the </a:t>
            </a:r>
            <a:r>
              <a:rPr lang="en-GB" sz="1100" b="1">
                <a:solidFill>
                  <a:srgbClr val="FF0000"/>
                </a:solidFill>
              </a:rPr>
              <a:t>enzymes are denatured</a:t>
            </a:r>
            <a:r>
              <a:rPr lang="en-GB" sz="1100">
                <a:solidFill>
                  <a:srgbClr val="FF0000"/>
                </a:solidFill>
              </a:rPr>
              <a:t>.</a:t>
            </a:r>
          </a:p>
          <a:p>
            <a:pPr>
              <a:lnSpc>
                <a:spcPts val="1900"/>
              </a:lnSpc>
            </a:pPr>
            <a:endParaRPr lang="en-GB" sz="1100">
              <a:solidFill>
                <a:srgbClr val="FF0000"/>
              </a:solidFill>
            </a:endParaRPr>
          </a:p>
        </p:txBody>
      </p:sp>
      <p:sp>
        <p:nvSpPr>
          <p:cNvPr id="2" name="Rectangle 1">
            <a:extLst>
              <a:ext uri="{FF2B5EF4-FFF2-40B4-BE49-F238E27FC236}">
                <a16:creationId xmlns:a16="http://schemas.microsoft.com/office/drawing/2014/main" id="{B22CEB05-8F51-4E16-9B2A-57C414796321}"/>
              </a:ext>
            </a:extLst>
          </p:cNvPr>
          <p:cNvSpPr/>
          <p:nvPr/>
        </p:nvSpPr>
        <p:spPr>
          <a:xfrm>
            <a:off x="5005286" y="1765603"/>
            <a:ext cx="383438" cy="307777"/>
          </a:xfrm>
          <a:prstGeom prst="rect">
            <a:avLst/>
          </a:prstGeom>
        </p:spPr>
        <p:txBody>
          <a:bodyPr wrap="none">
            <a:spAutoFit/>
          </a:bodyPr>
          <a:lstStyle/>
          <a:p>
            <a:r>
              <a:rPr lang="en-GB">
                <a:solidFill>
                  <a:srgbClr val="FF0000"/>
                </a:solidFill>
              </a:rPr>
              <a:t>30</a:t>
            </a:r>
            <a:endParaRPr lang="en-GB"/>
          </a:p>
        </p:txBody>
      </p:sp>
      <p:sp>
        <p:nvSpPr>
          <p:cNvPr id="7" name="TextBox 6">
            <a:extLst>
              <a:ext uri="{FF2B5EF4-FFF2-40B4-BE49-F238E27FC236}">
                <a16:creationId xmlns:a16="http://schemas.microsoft.com/office/drawing/2014/main" id="{43262B8C-2B97-4BD4-BFE9-90C0569A528B}"/>
              </a:ext>
            </a:extLst>
          </p:cNvPr>
          <p:cNvSpPr txBox="1"/>
          <p:nvPr/>
        </p:nvSpPr>
        <p:spPr>
          <a:xfrm>
            <a:off x="4745811" y="2275608"/>
            <a:ext cx="4213629" cy="794513"/>
          </a:xfrm>
          <a:prstGeom prst="rect">
            <a:avLst/>
          </a:prstGeom>
          <a:noFill/>
        </p:spPr>
        <p:txBody>
          <a:bodyPr wrap="square" rtlCol="0">
            <a:spAutoFit/>
          </a:bodyPr>
          <a:lstStyle/>
          <a:p>
            <a:pPr>
              <a:lnSpc>
                <a:spcPts val="1900"/>
              </a:lnSpc>
            </a:pPr>
            <a:r>
              <a:rPr lang="en-GB" sz="1100">
                <a:solidFill>
                  <a:srgbClr val="FF0000"/>
                </a:solidFill>
              </a:rPr>
              <a:t>This is the lowest temperature where the rate of photosynthesis is at an optimum.</a:t>
            </a:r>
          </a:p>
          <a:p>
            <a:pPr>
              <a:lnSpc>
                <a:spcPts val="1900"/>
              </a:lnSpc>
            </a:pPr>
            <a:endParaRPr lang="en-GB" sz="1100">
              <a:solidFill>
                <a:srgbClr val="FF0000"/>
              </a:solidFill>
            </a:endParaRPr>
          </a:p>
        </p:txBody>
      </p:sp>
      <p:sp>
        <p:nvSpPr>
          <p:cNvPr id="8" name="TextBox 7">
            <a:extLst>
              <a:ext uri="{FF2B5EF4-FFF2-40B4-BE49-F238E27FC236}">
                <a16:creationId xmlns:a16="http://schemas.microsoft.com/office/drawing/2014/main" id="{09B962FC-C69B-4460-9FDC-7076C8D1AD95}"/>
              </a:ext>
            </a:extLst>
          </p:cNvPr>
          <p:cNvSpPr txBox="1"/>
          <p:nvPr/>
        </p:nvSpPr>
        <p:spPr>
          <a:xfrm>
            <a:off x="4574411" y="3616011"/>
            <a:ext cx="4213629" cy="1038169"/>
          </a:xfrm>
          <a:prstGeom prst="rect">
            <a:avLst/>
          </a:prstGeom>
          <a:noFill/>
        </p:spPr>
        <p:txBody>
          <a:bodyPr wrap="square" rtlCol="0">
            <a:spAutoFit/>
          </a:bodyPr>
          <a:lstStyle/>
          <a:p>
            <a:pPr>
              <a:lnSpc>
                <a:spcPts val="1900"/>
              </a:lnSpc>
            </a:pPr>
            <a:r>
              <a:rPr lang="en-GB" sz="1100">
                <a:solidFill>
                  <a:srgbClr val="FF0000"/>
                </a:solidFill>
              </a:rPr>
              <a:t>Wilson should consider if the light intensity is a </a:t>
            </a:r>
            <a:r>
              <a:rPr lang="en-GB" sz="1100" b="1">
                <a:solidFill>
                  <a:srgbClr val="FF0000"/>
                </a:solidFill>
              </a:rPr>
              <a:t>limiting factor </a:t>
            </a:r>
            <a:r>
              <a:rPr lang="en-GB" sz="1100">
                <a:solidFill>
                  <a:srgbClr val="FF0000"/>
                </a:solidFill>
              </a:rPr>
              <a:t>and therefore think about purchasing and installing LED lights in his glasshouse.</a:t>
            </a:r>
          </a:p>
          <a:p>
            <a:pPr>
              <a:lnSpc>
                <a:spcPts val="1900"/>
              </a:lnSpc>
            </a:pPr>
            <a:endParaRPr lang="en-GB" sz="1100">
              <a:solidFill>
                <a:srgbClr val="FF0000"/>
              </a:solidFill>
            </a:endParaRPr>
          </a:p>
        </p:txBody>
      </p:sp>
      <p:sp>
        <p:nvSpPr>
          <p:cNvPr id="9" name="TextBox 8">
            <a:extLst>
              <a:ext uri="{FF2B5EF4-FFF2-40B4-BE49-F238E27FC236}">
                <a16:creationId xmlns:a16="http://schemas.microsoft.com/office/drawing/2014/main" id="{8754C432-48E7-41E2-BF4B-EF4E975567B3}"/>
              </a:ext>
            </a:extLst>
          </p:cNvPr>
          <p:cNvSpPr txBox="1"/>
          <p:nvPr/>
        </p:nvSpPr>
        <p:spPr>
          <a:xfrm>
            <a:off x="4252719" y="3319487"/>
            <a:ext cx="4936212" cy="1631216"/>
          </a:xfrm>
          <a:prstGeom prst="rect">
            <a:avLst/>
          </a:prstGeom>
          <a:solidFill>
            <a:schemeClr val="bg1"/>
          </a:solidFill>
          <a:ln>
            <a:solidFill>
              <a:schemeClr val="accent1"/>
            </a:solidFill>
          </a:ln>
        </p:spPr>
        <p:txBody>
          <a:bodyPr wrap="square" rtlCol="0">
            <a:spAutoFit/>
          </a:bodyPr>
          <a:lstStyle/>
          <a:p>
            <a:r>
              <a:rPr lang="en-GB" sz="2000" u="sng">
                <a:solidFill>
                  <a:srgbClr val="00B050"/>
                </a:solidFill>
              </a:rPr>
              <a:t>Half blood prince tips</a:t>
            </a:r>
            <a:r>
              <a:rPr lang="en-GB" sz="2000">
                <a:solidFill>
                  <a:srgbClr val="00B050"/>
                </a:solidFill>
              </a:rPr>
              <a:t>: The story of a graph is the story of the gradient (how steep the slope of the graph is). </a:t>
            </a:r>
          </a:p>
          <a:p>
            <a:r>
              <a:rPr lang="en-GB" sz="2000">
                <a:solidFill>
                  <a:srgbClr val="00B050"/>
                </a:solidFill>
              </a:rPr>
              <a:t>Like every story there should be a beginning, a middle and an end!!</a:t>
            </a:r>
          </a:p>
        </p:txBody>
      </p:sp>
    </p:spTree>
    <p:extLst>
      <p:ext uri="{BB962C8B-B14F-4D97-AF65-F5344CB8AC3E}">
        <p14:creationId xmlns:p14="http://schemas.microsoft.com/office/powerpoint/2010/main" val="1397596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2" grpId="0"/>
      <p:bldP spid="7" grpId="0"/>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3"/>
          <p:cNvSpPr txBox="1">
            <a:spLocks noGrp="1"/>
          </p:cNvSpPr>
          <p:nvPr>
            <p:ph type="ctrTitle"/>
          </p:nvPr>
        </p:nvSpPr>
        <p:spPr>
          <a:xfrm>
            <a:off x="311700" y="392150"/>
            <a:ext cx="8520600" cy="2690400"/>
          </a:xfrm>
          <a:prstGeom prst="rect">
            <a:avLst/>
          </a:prstGeom>
        </p:spPr>
        <p:txBody>
          <a:bodyPr spcFirstLastPara="1" wrap="square" lIns="91425" tIns="91425" rIns="91425" bIns="91425" anchor="ctr" anchorCtr="0">
            <a:noAutofit/>
          </a:bodyPr>
          <a:lstStyle/>
          <a:p>
            <a:pPr lvl="0"/>
            <a:r>
              <a:rPr lang="en-GB"/>
              <a:t>Biology 1 (B1) Revision</a:t>
            </a:r>
            <a:endParaRPr/>
          </a:p>
        </p:txBody>
      </p:sp>
      <p:sp>
        <p:nvSpPr>
          <p:cNvPr id="57" name="Google Shape;57;p13"/>
          <p:cNvSpPr txBox="1">
            <a:spLocks noGrp="1"/>
          </p:cNvSpPr>
          <p:nvPr>
            <p:ph type="subTitle" idx="1"/>
          </p:nvPr>
        </p:nvSpPr>
        <p:spPr>
          <a:xfrm>
            <a:off x="311700" y="3890400"/>
            <a:ext cx="8520600" cy="70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“The harder I work the luckier I get!”</a:t>
            </a:r>
            <a:endParaRPr/>
          </a:p>
        </p:txBody>
      </p:sp>
    </p:spTree>
    <p:extLst>
      <p:ext uri="{BB962C8B-B14F-4D97-AF65-F5344CB8AC3E}">
        <p14:creationId xmlns:p14="http://schemas.microsoft.com/office/powerpoint/2010/main" val="4179327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230916-D144-6041-8CB0-86854185585F}"/>
              </a:ext>
            </a:extLst>
          </p:cNvPr>
          <p:cNvSpPr>
            <a:spLocks noGrp="1"/>
          </p:cNvSpPr>
          <p:nvPr>
            <p:ph type="title"/>
          </p:nvPr>
        </p:nvSpPr>
        <p:spPr/>
        <p:txBody>
          <a:bodyPr/>
          <a:lstStyle/>
          <a:p>
            <a:r>
              <a:rPr lang="en-GB"/>
              <a:t>Revision Video</a:t>
            </a:r>
          </a:p>
        </p:txBody>
      </p:sp>
    </p:spTree>
    <p:extLst>
      <p:ext uri="{BB962C8B-B14F-4D97-AF65-F5344CB8AC3E}">
        <p14:creationId xmlns:p14="http://schemas.microsoft.com/office/powerpoint/2010/main" val="1776420083"/>
      </p:ext>
    </p:extLst>
  </p:cSld>
  <p:clrMapOvr>
    <a:masterClrMapping/>
  </p:clrMapOvr>
</p:sld>
</file>

<file path=ppt/theme/theme1.xml><?xml version="1.0" encoding="utf-8"?>
<a:theme xmlns:a="http://schemas.openxmlformats.org/drawingml/2006/main"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1019</Words>
  <Application>Microsoft Macintosh PowerPoint</Application>
  <PresentationFormat>On-screen Show (16:9)</PresentationFormat>
  <Paragraphs>144</Paragraphs>
  <Slides>17</Slides>
  <Notes>14</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Source Code Pro</vt:lpstr>
      <vt:lpstr>Arial</vt:lpstr>
      <vt:lpstr>Amatic SC</vt:lpstr>
      <vt:lpstr>Beach Day</vt:lpstr>
      <vt:lpstr>B1 revision– How can we best prepare for out first assessment?</vt:lpstr>
      <vt:lpstr>PowerPoint Presentation</vt:lpstr>
      <vt:lpstr>Biology 1 (B1) Topics </vt:lpstr>
      <vt:lpstr>Biology 1 (B1) Topics </vt:lpstr>
      <vt:lpstr>PowerPoint Presentation</vt:lpstr>
      <vt:lpstr>Biology 1 (B1) Revision</vt:lpstr>
      <vt:lpstr>Biology 1 (B1) Assessment </vt:lpstr>
      <vt:lpstr>Assessment Skills </vt:lpstr>
      <vt:lpstr>Emmett Chappelle – Black history month</vt:lpstr>
      <vt:lpstr>PowerPoint Presentation</vt:lpstr>
      <vt:lpstr>PowerPoint Presentation</vt:lpstr>
      <vt:lpstr>PowerPoint Presentation</vt:lpstr>
      <vt:lpstr>PowerPoint Presentation</vt:lpstr>
      <vt:lpstr>PowerPoint Presentation</vt:lpstr>
      <vt:lpstr>PowerPoint Presentation</vt:lpstr>
      <vt:lpstr>Biology 1 (B1) Revision</vt:lpstr>
      <vt:lpstr>Revision Video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B1 revision– How can we best prepare for out first assessment?</dc:title>
  <cp:lastModifiedBy>Daniel Tagg</cp:lastModifiedBy>
  <cp:revision>3</cp:revision>
  <cp:lastPrinted>2021-10-06T15:17:15Z</cp:lastPrinted>
  <dcterms:modified xsi:type="dcterms:W3CDTF">2026-10-09T08:11:07Z</dcterms:modified>
</cp:coreProperties>
</file>